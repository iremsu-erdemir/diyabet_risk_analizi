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66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F20482E-0FB0-0EE2-728A-EE59317B5DAC}"/>
              </a:ext>
            </a:extLst>
          </p:cNvPr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76329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Diyabet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Risk </a:t>
            </a:r>
            <a:r>
              <a:rPr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Analizi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587526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B74D"/>
                </a:solidFill>
                <a:latin typeface="Calibri"/>
              </a:defRPr>
            </a:pPr>
            <a:r>
              <a:rPr b="1" dirty="0" err="1"/>
              <a:t>Makine</a:t>
            </a:r>
            <a:r>
              <a:rPr b="1" dirty="0"/>
              <a:t> </a:t>
            </a:r>
            <a:r>
              <a:rPr b="1" dirty="0" err="1"/>
              <a:t>Öğrenmesi</a:t>
            </a:r>
            <a:r>
              <a:rPr b="1" dirty="0"/>
              <a:t> </a:t>
            </a:r>
            <a:r>
              <a:rPr b="1" dirty="0" err="1"/>
              <a:t>ile</a:t>
            </a:r>
            <a:r>
              <a:rPr b="1" dirty="0"/>
              <a:t> Erken </a:t>
            </a:r>
            <a:r>
              <a:rPr b="1" dirty="0" err="1"/>
              <a:t>Tanı</a:t>
            </a:r>
            <a:r>
              <a:rPr b="1" dirty="0"/>
              <a:t> </a:t>
            </a:r>
            <a:r>
              <a:rPr b="1" dirty="0" err="1"/>
              <a:t>ve</a:t>
            </a:r>
            <a:r>
              <a:rPr b="1" dirty="0"/>
              <a:t> Risk </a:t>
            </a:r>
            <a:r>
              <a:rPr b="1" dirty="0" err="1"/>
              <a:t>Tahmini</a:t>
            </a:r>
            <a:endParaRPr b="1" dirty="0"/>
          </a:p>
        </p:txBody>
      </p:sp>
      <p:sp>
        <p:nvSpPr>
          <p:cNvPr id="6" name="TextBox 5"/>
          <p:cNvSpPr txBox="1"/>
          <p:nvPr/>
        </p:nvSpPr>
        <p:spPr>
          <a:xfrm>
            <a:off x="822959" y="5548028"/>
            <a:ext cx="10058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Pima Indians </a:t>
            </a:r>
            <a:r>
              <a:rPr sz="1600" dirty="0" err="1"/>
              <a:t>Diyabet</a:t>
            </a:r>
            <a:r>
              <a:rPr sz="1600" dirty="0"/>
              <a:t> Veri Seti 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6 </a:t>
            </a:r>
            <a:r>
              <a:rPr sz="1600" dirty="0" err="1"/>
              <a:t>Sınıflandırıcı</a:t>
            </a:r>
            <a:r>
              <a:rPr sz="1600" dirty="0"/>
              <a:t>  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90 Model–</a:t>
            </a:r>
            <a:r>
              <a:rPr sz="1600" dirty="0" err="1"/>
              <a:t>Örnekleme</a:t>
            </a:r>
            <a:r>
              <a:rPr sz="1600" dirty="0"/>
              <a:t> </a:t>
            </a:r>
            <a:r>
              <a:rPr sz="1600" dirty="0" err="1"/>
              <a:t>Kombinasyonu</a:t>
            </a:r>
            <a:endParaRPr sz="1600" dirty="0"/>
          </a:p>
          <a:p>
            <a:pPr marL="285750" indent="-285750">
              <a:buFont typeface="Arial" panose="020B0604020202020204" pitchFamily="34" charset="0"/>
              <a:buChar char="•"/>
              <a:defRPr sz="1200">
                <a:solidFill>
                  <a:srgbClr val="E8F4F8"/>
                </a:solidFill>
              </a:defRPr>
            </a:pPr>
            <a:r>
              <a:rPr sz="1600" dirty="0" err="1"/>
              <a:t>Streamlit</a:t>
            </a:r>
            <a:r>
              <a:rPr sz="1600" dirty="0"/>
              <a:t> Web </a:t>
            </a:r>
            <a:r>
              <a:rPr sz="1600" dirty="0" err="1"/>
              <a:t>Arayüzü</a:t>
            </a:r>
            <a:endParaRPr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2580229-EC94-E4EF-2A10-F6BA24FF0F67}"/>
              </a:ext>
            </a:extLst>
          </p:cNvPr>
          <p:cNvSpPr/>
          <p:nvPr/>
        </p:nvSpPr>
        <p:spPr>
          <a:xfrm>
            <a:off x="822959" y="4206676"/>
            <a:ext cx="3552395" cy="731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1221602028 – İrem Su ERDEMİR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1221602098 – Beyza YILMAZ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57F2FDB-EDB6-C187-95C3-30784384A82A}"/>
              </a:ext>
            </a:extLst>
          </p:cNvPr>
          <p:cNvSpPr/>
          <p:nvPr/>
        </p:nvSpPr>
        <p:spPr>
          <a:xfrm>
            <a:off x="8810531" y="3763368"/>
            <a:ext cx="2298332" cy="294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</a:t>
            </a:r>
            <a:r>
              <a:rPr lang="en-US" sz="2000" b="1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Danışmanları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EF9D84F-5EA6-8CD7-7FF9-92CBE49DA5E3}"/>
              </a:ext>
            </a:extLst>
          </p:cNvPr>
          <p:cNvSpPr txBox="1"/>
          <p:nvPr/>
        </p:nvSpPr>
        <p:spPr>
          <a:xfrm>
            <a:off x="8810531" y="4137294"/>
            <a:ext cx="3033251" cy="98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3000"/>
              </a:lnSpc>
            </a:pPr>
            <a:r>
              <a:rPr lang="en-US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Doç</a:t>
            </a: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Dr. Emir ÖZTÜRK</a:t>
            </a:r>
            <a:endParaRPr lang="en-US" sz="1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Arş</a:t>
            </a: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</a:t>
            </a:r>
            <a:r>
              <a:rPr lang="en-US"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Gör</a:t>
            </a:r>
            <a:r>
              <a:rPr 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Oğuz KIRAT</a:t>
            </a:r>
            <a:endParaRPr lang="en-US" sz="15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tr-T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Tanımı ve Amaç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Klinik tarama bağlamında yanlış negatif maliyeti yüksektir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Diyabet</a:t>
            </a:r>
            <a:r>
              <a:rPr dirty="0"/>
              <a:t>, </a:t>
            </a:r>
            <a:r>
              <a:rPr dirty="0" err="1"/>
              <a:t>dünya</a:t>
            </a:r>
            <a:r>
              <a:rPr dirty="0"/>
              <a:t> </a:t>
            </a:r>
            <a:r>
              <a:rPr dirty="0" err="1"/>
              <a:t>genelinde</a:t>
            </a:r>
            <a:r>
              <a:rPr dirty="0"/>
              <a:t> </a:t>
            </a:r>
            <a:r>
              <a:rPr dirty="0" err="1"/>
              <a:t>milyonlarca</a:t>
            </a:r>
            <a:r>
              <a:rPr dirty="0"/>
              <a:t> </a:t>
            </a:r>
            <a:r>
              <a:rPr dirty="0" err="1"/>
              <a:t>insanı</a:t>
            </a:r>
            <a:r>
              <a:rPr dirty="0"/>
              <a:t> </a:t>
            </a:r>
            <a:r>
              <a:rPr dirty="0" err="1"/>
              <a:t>etkileyen</a:t>
            </a:r>
            <a:r>
              <a:rPr dirty="0"/>
              <a:t> </a:t>
            </a:r>
            <a:r>
              <a:rPr dirty="0" err="1"/>
              <a:t>kronik</a:t>
            </a:r>
            <a:r>
              <a:rPr dirty="0"/>
              <a:t> </a:t>
            </a:r>
            <a:r>
              <a:rPr dirty="0" err="1"/>
              <a:t>bir</a:t>
            </a:r>
            <a:r>
              <a:rPr dirty="0"/>
              <a:t> </a:t>
            </a:r>
            <a:r>
              <a:rPr dirty="0" err="1"/>
              <a:t>metabolik</a:t>
            </a:r>
            <a:r>
              <a:rPr dirty="0"/>
              <a:t> </a:t>
            </a:r>
            <a:r>
              <a:rPr dirty="0" err="1"/>
              <a:t>hastalıktır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Calibri"/>
              </a:defRPr>
            </a:pPr>
            <a:r>
              <a:rPr dirty="0"/>
              <a:t>• Erken </a:t>
            </a:r>
            <a:r>
              <a:rPr dirty="0" err="1"/>
              <a:t>teşhis</a:t>
            </a:r>
            <a:r>
              <a:rPr dirty="0"/>
              <a:t>, </a:t>
            </a:r>
            <a:r>
              <a:rPr dirty="0" err="1"/>
              <a:t>komplikasyon</a:t>
            </a:r>
            <a:r>
              <a:rPr dirty="0"/>
              <a:t> </a:t>
            </a:r>
            <a:r>
              <a:rPr dirty="0" err="1"/>
              <a:t>riskini</a:t>
            </a:r>
            <a:r>
              <a:rPr dirty="0"/>
              <a:t> </a:t>
            </a:r>
            <a:r>
              <a:rPr dirty="0" err="1"/>
              <a:t>azaltmak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kritik</a:t>
            </a:r>
            <a:r>
              <a:rPr dirty="0"/>
              <a:t> </a:t>
            </a:r>
            <a:r>
              <a:rPr dirty="0" err="1"/>
              <a:t>öneme</a:t>
            </a:r>
            <a:r>
              <a:rPr dirty="0"/>
              <a:t> </a:t>
            </a:r>
            <a:r>
              <a:rPr dirty="0" err="1"/>
              <a:t>sahiptir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Calibri"/>
              </a:defRPr>
            </a:pPr>
            <a:r>
              <a:rPr b="1" dirty="0"/>
              <a:t>• Amaç: </a:t>
            </a:r>
            <a:r>
              <a:rPr dirty="0" err="1"/>
              <a:t>Demografik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klinik</a:t>
            </a:r>
            <a:r>
              <a:rPr dirty="0"/>
              <a:t> </a:t>
            </a:r>
            <a:r>
              <a:rPr dirty="0" err="1"/>
              <a:t>ölçümlerden</a:t>
            </a:r>
            <a:r>
              <a:rPr dirty="0"/>
              <a:t> </a:t>
            </a:r>
            <a:r>
              <a:rPr dirty="0" err="1"/>
              <a:t>diyabet</a:t>
            </a:r>
            <a:r>
              <a:rPr dirty="0"/>
              <a:t> </a:t>
            </a:r>
            <a:r>
              <a:rPr dirty="0" err="1"/>
              <a:t>varlığını</a:t>
            </a:r>
            <a:r>
              <a:rPr dirty="0"/>
              <a:t> (Outcome) </a:t>
            </a:r>
            <a:r>
              <a:rPr dirty="0" err="1"/>
              <a:t>tahmin</a:t>
            </a:r>
            <a:r>
              <a:rPr dirty="0"/>
              <a:t> </a:t>
            </a:r>
            <a:r>
              <a:rPr dirty="0" err="1"/>
              <a:t>etmek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/>
              <a:t>Problem tipi: </a:t>
            </a:r>
            <a:r>
              <a:rPr dirty="0" err="1"/>
              <a:t>İkili</a:t>
            </a:r>
            <a:r>
              <a:rPr dirty="0"/>
              <a:t> </a:t>
            </a:r>
            <a:r>
              <a:rPr dirty="0" err="1"/>
              <a:t>sınıflandırma</a:t>
            </a:r>
            <a:r>
              <a:rPr dirty="0"/>
              <a:t> (</a:t>
            </a:r>
            <a:r>
              <a:rPr b="1" dirty="0"/>
              <a:t>0 = </a:t>
            </a:r>
            <a:r>
              <a:rPr b="1" dirty="0" err="1"/>
              <a:t>Sağlıklı</a:t>
            </a:r>
            <a:r>
              <a:rPr b="1" dirty="0"/>
              <a:t>, 1 = </a:t>
            </a:r>
            <a:r>
              <a:rPr b="1" dirty="0" err="1"/>
              <a:t>Diyabet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Calibri"/>
              </a:defRPr>
            </a:pPr>
            <a:r>
              <a:rPr b="1" dirty="0"/>
              <a:t>• </a:t>
            </a:r>
            <a:r>
              <a:rPr b="1" dirty="0" err="1"/>
              <a:t>Birincil</a:t>
            </a:r>
            <a:r>
              <a:rPr b="1" dirty="0"/>
              <a:t> </a:t>
            </a:r>
            <a:r>
              <a:rPr b="1" dirty="0" err="1"/>
              <a:t>metrik</a:t>
            </a:r>
            <a:r>
              <a:rPr b="1" dirty="0"/>
              <a:t>: Recall </a:t>
            </a:r>
            <a:r>
              <a:rPr dirty="0"/>
              <a:t>— </a:t>
            </a:r>
            <a:r>
              <a:rPr dirty="0" err="1"/>
              <a:t>diyabetli</a:t>
            </a:r>
            <a:r>
              <a:rPr dirty="0"/>
              <a:t> </a:t>
            </a:r>
            <a:r>
              <a:rPr dirty="0" err="1"/>
              <a:t>hastayı</a:t>
            </a:r>
            <a:r>
              <a:rPr dirty="0"/>
              <a:t> </a:t>
            </a:r>
            <a:r>
              <a:rPr dirty="0" err="1"/>
              <a:t>kaçırmamak</a:t>
            </a:r>
            <a:r>
              <a:rPr dirty="0"/>
              <a:t> </a:t>
            </a:r>
            <a:r>
              <a:rPr dirty="0" err="1"/>
              <a:t>önceliklidir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263238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 err="1"/>
              <a:t>İkincil</a:t>
            </a:r>
            <a:r>
              <a:rPr b="1" dirty="0"/>
              <a:t> </a:t>
            </a:r>
            <a:r>
              <a:rPr b="1" dirty="0" err="1"/>
              <a:t>referans</a:t>
            </a:r>
            <a:r>
              <a:rPr b="1" dirty="0"/>
              <a:t>: F1-score </a:t>
            </a:r>
            <a:r>
              <a:rPr b="1" dirty="0" err="1"/>
              <a:t>ve</a:t>
            </a:r>
            <a:r>
              <a:rPr b="1" dirty="0"/>
              <a:t> ROC-AUC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dengeli</a:t>
            </a:r>
            <a:r>
              <a:rPr dirty="0"/>
              <a:t> </a:t>
            </a:r>
            <a:r>
              <a:rPr dirty="0" err="1"/>
              <a:t>karşılaştırma</a:t>
            </a:r>
            <a:r>
              <a:rPr dirty="0"/>
              <a:t>.</a:t>
            </a:r>
          </a:p>
        </p:txBody>
      </p:sp>
      <p:pic>
        <p:nvPicPr>
          <p:cNvPr id="7" name="Picture 6" descr="class_distribution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9" y="1325879"/>
            <a:ext cx="5442929" cy="41251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58671" y="5668046"/>
            <a:ext cx="5442929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600" dirty="0"/>
              <a:t>Veri </a:t>
            </a:r>
            <a:r>
              <a:rPr lang="en-US" sz="1600" dirty="0" err="1"/>
              <a:t>setinde</a:t>
            </a:r>
            <a:r>
              <a:rPr lang="en-US" sz="1600" dirty="0"/>
              <a:t> </a:t>
            </a:r>
            <a:r>
              <a:rPr lang="en-US" sz="1600" dirty="0" err="1"/>
              <a:t>sınıf</a:t>
            </a:r>
            <a:r>
              <a:rPr lang="en-US" sz="1600" dirty="0"/>
              <a:t> </a:t>
            </a:r>
            <a:r>
              <a:rPr lang="en-US" sz="1600" dirty="0" err="1"/>
              <a:t>dengesizliği</a:t>
            </a:r>
            <a:r>
              <a:rPr lang="en-US" sz="1600" dirty="0"/>
              <a:t> </a:t>
            </a:r>
            <a:r>
              <a:rPr lang="en-US" sz="1600" dirty="0" err="1"/>
              <a:t>bulunmaktadır</a:t>
            </a:r>
            <a:r>
              <a:rPr lang="en-US" sz="1600" dirty="0"/>
              <a:t>.</a:t>
            </a:r>
            <a:endParaRPr sz="1600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Veri Seti Özeti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Pima Indians Diabetes Database (Kaggle)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06040" cy="10515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2331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768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Gözlem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t>8 özellik + hedef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606040" cy="105156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344168"/>
            <a:ext cx="2331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500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Sağlıklı (0)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t>%65.1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2606040" cy="10515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44168"/>
            <a:ext cx="2331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268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Diyabet (1)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t>%34.9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234440"/>
            <a:ext cx="2606040" cy="105156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1344168"/>
            <a:ext cx="23317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Eksik Değer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t>Medyan imputation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953" y="2364451"/>
            <a:ext cx="89168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b="1" dirty="0"/>
              <a:t>• </a:t>
            </a:r>
            <a:r>
              <a:rPr b="1" dirty="0" err="1"/>
              <a:t>Özellikler</a:t>
            </a:r>
            <a:r>
              <a:rPr b="1" dirty="0"/>
              <a:t>:</a:t>
            </a:r>
            <a:r>
              <a:rPr dirty="0"/>
              <a:t> Pregnancies, Glucose, </a:t>
            </a:r>
            <a:r>
              <a:rPr dirty="0" err="1"/>
              <a:t>BloodPressure</a:t>
            </a:r>
            <a:r>
              <a:rPr dirty="0"/>
              <a:t>, </a:t>
            </a:r>
            <a:r>
              <a:rPr dirty="0" err="1"/>
              <a:t>SkinThickness</a:t>
            </a:r>
            <a:r>
              <a:rPr dirty="0"/>
              <a:t>, Insulin, BMI, </a:t>
            </a:r>
            <a:r>
              <a:rPr dirty="0" err="1"/>
              <a:t>DiabetesPedigreeFunction</a:t>
            </a:r>
            <a:r>
              <a:rPr dirty="0"/>
              <a:t>, Age</a:t>
            </a:r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 err="1"/>
              <a:t>Ön</a:t>
            </a:r>
            <a:r>
              <a:rPr b="1" dirty="0"/>
              <a:t> </a:t>
            </a:r>
            <a:r>
              <a:rPr b="1" dirty="0" err="1"/>
              <a:t>işleme</a:t>
            </a:r>
            <a:r>
              <a:rPr b="1" dirty="0"/>
              <a:t>: </a:t>
            </a:r>
            <a:r>
              <a:rPr dirty="0" err="1"/>
              <a:t>Medyan</a:t>
            </a:r>
            <a:r>
              <a:rPr dirty="0"/>
              <a:t> </a:t>
            </a:r>
            <a:r>
              <a:rPr dirty="0" err="1"/>
              <a:t>doldurma</a:t>
            </a:r>
            <a:r>
              <a:rPr dirty="0"/>
              <a:t> → IQR </a:t>
            </a:r>
            <a:r>
              <a:rPr dirty="0" err="1"/>
              <a:t>aykırı</a:t>
            </a:r>
            <a:r>
              <a:rPr dirty="0"/>
              <a:t> </a:t>
            </a:r>
            <a:r>
              <a:rPr dirty="0" err="1"/>
              <a:t>değer</a:t>
            </a:r>
            <a:r>
              <a:rPr dirty="0"/>
              <a:t> → </a:t>
            </a:r>
            <a:r>
              <a:rPr dirty="0" err="1"/>
              <a:t>StandardScaler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 err="1"/>
              <a:t>Bölme</a:t>
            </a:r>
            <a:r>
              <a:rPr b="1" dirty="0"/>
              <a:t>: </a:t>
            </a:r>
            <a:r>
              <a:rPr dirty="0"/>
              <a:t>%64 </a:t>
            </a:r>
            <a:r>
              <a:rPr dirty="0" err="1"/>
              <a:t>eğitim</a:t>
            </a:r>
            <a:r>
              <a:rPr dirty="0"/>
              <a:t> + %16 </a:t>
            </a:r>
            <a:r>
              <a:rPr dirty="0" err="1"/>
              <a:t>doğrulama</a:t>
            </a:r>
            <a:r>
              <a:rPr dirty="0"/>
              <a:t> + %20 test (stratified, seed=42)</a:t>
            </a:r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 err="1"/>
              <a:t>Doğrulama</a:t>
            </a:r>
            <a:r>
              <a:rPr b="1" dirty="0"/>
              <a:t>: </a:t>
            </a:r>
            <a:r>
              <a:rPr dirty="0"/>
              <a:t>10-fold Stratified Cross-Validation</a:t>
            </a:r>
          </a:p>
        </p:txBody>
      </p:sp>
      <p:pic>
        <p:nvPicPr>
          <p:cNvPr id="15" name="Picture 1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91" y="3773120"/>
            <a:ext cx="4089498" cy="2232124"/>
          </a:xfrm>
          <a:prstGeom prst="rect">
            <a:avLst/>
          </a:prstGeom>
        </p:spPr>
      </p:pic>
      <p:pic>
        <p:nvPicPr>
          <p:cNvPr id="16" name="Picture 15" descr="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671" y="2928283"/>
            <a:ext cx="4879049" cy="30769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6953" y="6050092"/>
            <a:ext cx="5310338" cy="6976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400" b="1" dirty="0">
                <a:solidFill>
                  <a:srgbClr val="333333"/>
                </a:solidFill>
              </a:rPr>
              <a:t>    </a:t>
            </a:r>
            <a:r>
              <a:rPr sz="1400" b="1" dirty="0">
                <a:solidFill>
                  <a:srgbClr val="333333"/>
                </a:solidFill>
              </a:rPr>
              <a:t>Veri </a:t>
            </a:r>
            <a:r>
              <a:rPr sz="1400" b="1" dirty="0" err="1">
                <a:solidFill>
                  <a:srgbClr val="333333"/>
                </a:solidFill>
              </a:rPr>
              <a:t>setinde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diyabet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olmayan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bireylerin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sayısının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daha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fazla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olduğu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görülmektedir</a:t>
            </a:r>
            <a:r>
              <a:rPr sz="1400" b="1" dirty="0">
                <a:solidFill>
                  <a:srgbClr val="333333"/>
                </a:solidFill>
              </a:rPr>
              <a:t>. Bu durum </a:t>
            </a:r>
            <a:r>
              <a:rPr sz="1400" b="1" dirty="0" err="1">
                <a:solidFill>
                  <a:srgbClr val="333333"/>
                </a:solidFill>
              </a:rPr>
              <a:t>sınıf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dengesizliği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problemini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ortaya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çıkarmaktadır</a:t>
            </a:r>
            <a:r>
              <a:rPr sz="14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3111" y="6076142"/>
            <a:ext cx="5310337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900" b="1" dirty="0">
                <a:solidFill>
                  <a:srgbClr val="333333"/>
                </a:solidFill>
              </a:rPr>
              <a:t>    </a:t>
            </a:r>
            <a:r>
              <a:rPr sz="1400" b="1" dirty="0" err="1">
                <a:solidFill>
                  <a:srgbClr val="333333"/>
                </a:solidFill>
              </a:rPr>
              <a:t>Özellikler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arasındaki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korelasyon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ilişkileri</a:t>
            </a:r>
            <a:r>
              <a:rPr sz="1400" b="1" dirty="0">
                <a:solidFill>
                  <a:srgbClr val="333333"/>
                </a:solidFill>
              </a:rPr>
              <a:t> </a:t>
            </a:r>
            <a:r>
              <a:rPr sz="1400" b="1" dirty="0" err="1">
                <a:solidFill>
                  <a:srgbClr val="333333"/>
                </a:solidFill>
              </a:rPr>
              <a:t>gösterilmektedir</a:t>
            </a:r>
            <a:r>
              <a:rPr sz="1400" b="1" dirty="0">
                <a:solidFill>
                  <a:srgbClr val="333333"/>
                </a:solidFill>
              </a:rPr>
              <a:t>. </a:t>
            </a:r>
            <a:r>
              <a:rPr sz="1400" b="1" dirty="0" err="1">
                <a:solidFill>
                  <a:srgbClr val="333333"/>
                </a:solidFill>
              </a:rPr>
              <a:t>Özellikle</a:t>
            </a:r>
            <a:r>
              <a:rPr lang="tr-TR" sz="1400" b="1" dirty="0">
                <a:solidFill>
                  <a:srgbClr val="333333"/>
                </a:solidFill>
              </a:rPr>
              <a:t> </a:t>
            </a:r>
            <a:r>
              <a:rPr lang="tr-TR" sz="1400" b="1" dirty="0" err="1">
                <a:solidFill>
                  <a:srgbClr val="333333"/>
                </a:solidFill>
              </a:rPr>
              <a:t>gl</a:t>
            </a:r>
            <a:r>
              <a:rPr lang="en-US" sz="1400" b="1" dirty="0" err="1"/>
              <a:t>ikoz</a:t>
            </a:r>
            <a:r>
              <a:rPr lang="en-US" sz="1400" b="1" dirty="0"/>
              <a:t> </a:t>
            </a:r>
            <a:r>
              <a:rPr lang="en-US" sz="1400" b="1" dirty="0" err="1"/>
              <a:t>ile</a:t>
            </a:r>
            <a:r>
              <a:rPr lang="en-US" sz="1400" b="1" dirty="0"/>
              <a:t> </a:t>
            </a:r>
            <a:r>
              <a:rPr lang="en-US" sz="1400" b="1" dirty="0" err="1"/>
              <a:t>hedef</a:t>
            </a:r>
            <a:r>
              <a:rPr lang="en-US" sz="1400" b="1" dirty="0"/>
              <a:t> </a:t>
            </a:r>
            <a:r>
              <a:rPr lang="en-US" sz="1400" b="1" dirty="0" err="1"/>
              <a:t>değişken</a:t>
            </a:r>
            <a:r>
              <a:rPr lang="en-US" sz="1400" b="1" dirty="0"/>
              <a:t> </a:t>
            </a:r>
            <a:r>
              <a:rPr lang="en-US" sz="1400" b="1" dirty="0" err="1"/>
              <a:t>arasında</a:t>
            </a:r>
            <a:r>
              <a:rPr lang="en-US" sz="1400" b="1" dirty="0"/>
              <a:t> </a:t>
            </a:r>
            <a:r>
              <a:rPr lang="en-US" sz="1400" b="1" dirty="0" err="1"/>
              <a:t>güçlü</a:t>
            </a:r>
            <a:r>
              <a:rPr lang="en-US" sz="1400" b="1" dirty="0"/>
              <a:t> </a:t>
            </a:r>
            <a:r>
              <a:rPr lang="tr-TR" sz="1400" b="1" dirty="0"/>
              <a:t>bir </a:t>
            </a:r>
            <a:r>
              <a:rPr lang="en-US" sz="1400" b="1" dirty="0" err="1"/>
              <a:t>ilişki</a:t>
            </a:r>
            <a:r>
              <a:rPr lang="en-US" sz="1400" b="1" dirty="0"/>
              <a:t> </a:t>
            </a:r>
            <a:r>
              <a:rPr lang="en-US" sz="1400" b="1" dirty="0" err="1"/>
              <a:t>gözlemlen</a:t>
            </a:r>
            <a:r>
              <a:rPr lang="tr-TR" sz="1400" b="1" dirty="0" err="1"/>
              <a:t>miştir</a:t>
            </a:r>
            <a:r>
              <a:rPr lang="en-US" sz="1400" b="1" dirty="0"/>
              <a:t>.</a:t>
            </a:r>
            <a:endParaRPr sz="14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Keşifsel</a:t>
            </a:r>
            <a:r>
              <a:rPr dirty="0"/>
              <a:t> Veri </a:t>
            </a:r>
            <a:r>
              <a:rPr dirty="0" err="1"/>
              <a:t>Analizi</a:t>
            </a:r>
            <a:r>
              <a:rPr dirty="0"/>
              <a:t>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rPr dirty="0" err="1"/>
              <a:t>Önemli</a:t>
            </a:r>
            <a:r>
              <a:rPr dirty="0"/>
              <a:t> </a:t>
            </a:r>
            <a:r>
              <a:rPr dirty="0" err="1"/>
              <a:t>klinik</a:t>
            </a:r>
            <a:r>
              <a:rPr dirty="0"/>
              <a:t> </a:t>
            </a:r>
            <a:r>
              <a:rPr dirty="0" err="1"/>
              <a:t>değişkenler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hedef</a:t>
            </a:r>
            <a:r>
              <a:rPr dirty="0"/>
              <a:t> </a:t>
            </a:r>
            <a:r>
              <a:rPr dirty="0" err="1"/>
              <a:t>ilişkisi</a:t>
            </a:r>
            <a:endParaRPr dirty="0"/>
          </a:p>
        </p:txBody>
      </p:sp>
      <p:pic>
        <p:nvPicPr>
          <p:cNvPr id="6" name="Picture 5" descr="glucose_outcom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9" y="2038142"/>
            <a:ext cx="3812448" cy="2541632"/>
          </a:xfrm>
          <a:prstGeom prst="rect">
            <a:avLst/>
          </a:prstGeom>
        </p:spPr>
      </p:pic>
      <p:pic>
        <p:nvPicPr>
          <p:cNvPr id="7" name="Picture 6" descr="bmi_outcome_violin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319" y="2038142"/>
            <a:ext cx="3855963" cy="2570642"/>
          </a:xfrm>
          <a:prstGeom prst="rect">
            <a:avLst/>
          </a:prstGeom>
        </p:spPr>
      </p:pic>
      <p:pic>
        <p:nvPicPr>
          <p:cNvPr id="8" name="Picture 7" descr="feature_importance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682" y="2038142"/>
            <a:ext cx="4025809" cy="2538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852" y="5164784"/>
            <a:ext cx="3340757" cy="1528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1A477A"/>
                </a:solidFill>
              </a:rPr>
              <a:t>     </a:t>
            </a:r>
            <a:r>
              <a:rPr sz="1600" b="1" dirty="0">
                <a:solidFill>
                  <a:srgbClr val="1A477A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Glikoz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değişkeninin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tahmininde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en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etkili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özniteliklerden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olduğu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görülmektedir</a:t>
            </a:r>
            <a:r>
              <a:rPr sz="1600" b="1" dirty="0">
                <a:solidFill>
                  <a:srgbClr val="333333"/>
                </a:solidFill>
              </a:rPr>
              <a:t>.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hastalarında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glikoz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düzeyleri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sağlıklı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bireylere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kıyasla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belirgin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biçimde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daha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yüksektir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3541" y="5169460"/>
            <a:ext cx="333376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sz="1600" b="1" dirty="0">
                <a:solidFill>
                  <a:srgbClr val="333333"/>
                </a:solidFill>
              </a:rPr>
              <a:t>Yüksek VKİ </a:t>
            </a:r>
            <a:r>
              <a:rPr sz="1600" b="1" dirty="0" err="1">
                <a:solidFill>
                  <a:srgbClr val="333333"/>
                </a:solidFill>
              </a:rPr>
              <a:t>değerlerine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sahip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bireylerde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oranının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daha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fazla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olduğu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dikkat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çekmektedir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9285" y="5174136"/>
            <a:ext cx="3221863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600" b="1" dirty="0" err="1">
                <a:solidFill>
                  <a:srgbClr val="333333"/>
                </a:solidFill>
              </a:rPr>
              <a:t>Glikoz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değişkeninin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tahmininde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en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etkili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özniteliklerden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olduğu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6E7FD0-96D3-8395-2F8D-39F69D846C1C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tr-TR" dirty="0"/>
              <a:t>     Keşifsel Veri Analizi (EDA)</a:t>
            </a:r>
          </a:p>
        </p:txBody>
      </p:sp>
      <p:pic>
        <p:nvPicPr>
          <p:cNvPr id="9" name="Picture 8" descr="glucose_grouped_outcome_distribution.png"/>
          <p:cNvPicPr>
            <a:picLocks noChangeAspect="1"/>
          </p:cNvPicPr>
          <p:nvPr/>
        </p:nvPicPr>
        <p:blipFill>
          <a:blip r:embed="rId2"/>
          <a:srcRect r="6366"/>
          <a:stretch>
            <a:fillRect/>
          </a:stretch>
        </p:blipFill>
        <p:spPr>
          <a:xfrm>
            <a:off x="201918" y="1199963"/>
            <a:ext cx="3810050" cy="3051810"/>
          </a:xfrm>
          <a:prstGeom prst="rect">
            <a:avLst/>
          </a:prstGeom>
        </p:spPr>
      </p:pic>
      <p:pic>
        <p:nvPicPr>
          <p:cNvPr id="10" name="Picture 9" descr="bmi_grouped_outcome_distribution.png"/>
          <p:cNvPicPr>
            <a:picLocks noChangeAspect="1"/>
          </p:cNvPicPr>
          <p:nvPr/>
        </p:nvPicPr>
        <p:blipFill>
          <a:blip r:embed="rId3"/>
          <a:srcRect r="8522"/>
          <a:stretch>
            <a:fillRect/>
          </a:stretch>
        </p:blipFill>
        <p:spPr>
          <a:xfrm>
            <a:off x="8081046" y="1199963"/>
            <a:ext cx="3810050" cy="31237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86CC14-5F1F-E473-501C-639C28235D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366"/>
          <a:stretch>
            <a:fillRect/>
          </a:stretch>
        </p:blipFill>
        <p:spPr>
          <a:xfrm>
            <a:off x="4141482" y="3536367"/>
            <a:ext cx="3810050" cy="30518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1918" y="4331773"/>
            <a:ext cx="3810050" cy="103618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sz="1600" b="1" dirty="0" err="1">
                <a:solidFill>
                  <a:srgbClr val="333333"/>
                </a:solidFill>
              </a:rPr>
              <a:t>Glikoz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seviyesi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arttıkça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oranı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artmaktadır</a:t>
            </a:r>
            <a:r>
              <a:rPr sz="1600" b="1" dirty="0">
                <a:solidFill>
                  <a:srgbClr val="333333"/>
                </a:solidFill>
              </a:rPr>
              <a:t>; </a:t>
            </a:r>
            <a:r>
              <a:rPr sz="1600" b="1" dirty="0" err="1">
                <a:solidFill>
                  <a:srgbClr val="333333"/>
                </a:solidFill>
              </a:rPr>
              <a:t>yüksek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glikoz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gruplarında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pozitif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vaka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yoğunluğu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belirgin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şekilde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yükselmektedir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0032" y="4403726"/>
            <a:ext cx="381005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sz="1600" b="1" dirty="0">
                <a:solidFill>
                  <a:srgbClr val="333333"/>
                </a:solidFill>
              </a:rPr>
              <a:t>Yüksek VKİ </a:t>
            </a:r>
            <a:r>
              <a:rPr sz="1600" b="1" dirty="0" err="1">
                <a:solidFill>
                  <a:srgbClr val="333333"/>
                </a:solidFill>
              </a:rPr>
              <a:t>değerlerine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sahip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bireylerde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oranının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daha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fazla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olduğu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dikkat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çekmektedir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1482" y="2639040"/>
            <a:ext cx="381005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sz="1600" b="1" dirty="0" err="1">
                <a:solidFill>
                  <a:srgbClr val="333333"/>
                </a:solidFill>
              </a:rPr>
              <a:t>Yaş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ilerledikçe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riskinin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arttığı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ve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ileri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yaş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gruplarında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pozitif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vaka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oranının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daha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yüksek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olduğu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gözlemlenmektedir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765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3EE92F-8AE1-E4DD-35C7-0509736E2D39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BC4D1A-8B99-F9F3-F4BE-583372B0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79" y="1304634"/>
            <a:ext cx="4256556" cy="3192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4DD074-979E-3D90-2BC8-8672A5D52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469" y="1304634"/>
            <a:ext cx="4256555" cy="3192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2615" y="4702070"/>
            <a:ext cx="580409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sz="1600" b="1" dirty="0">
                <a:solidFill>
                  <a:srgbClr val="333333"/>
                </a:solidFill>
              </a:rPr>
              <a:t>Yüksek </a:t>
            </a:r>
            <a:r>
              <a:rPr sz="1600" b="1" dirty="0" err="1">
                <a:solidFill>
                  <a:srgbClr val="333333"/>
                </a:solidFill>
              </a:rPr>
              <a:t>kan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basıncı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değerlerinin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riski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ile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ilişkili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olduğu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ve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özellikle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hipertansif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bireylerde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pozitif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vaka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yoğunluğunun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arttığı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0387" y="4702070"/>
            <a:ext cx="4683916" cy="54373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sz="1600" b="1" dirty="0" err="1">
                <a:solidFill>
                  <a:srgbClr val="333333"/>
                </a:solidFill>
              </a:rPr>
              <a:t>Genetik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yatkınlığı</a:t>
            </a:r>
            <a:r>
              <a:rPr sz="1600" b="1" dirty="0">
                <a:solidFill>
                  <a:srgbClr val="333333"/>
                </a:solidFill>
              </a:rPr>
              <a:t> (</a:t>
            </a:r>
            <a:r>
              <a:rPr sz="1600" b="1" dirty="0" err="1">
                <a:solidFill>
                  <a:srgbClr val="333333"/>
                </a:solidFill>
              </a:rPr>
              <a:t>pedigri</a:t>
            </a:r>
            <a:r>
              <a:rPr sz="1600" b="1" dirty="0">
                <a:solidFill>
                  <a:srgbClr val="333333"/>
                </a:solidFill>
              </a:rPr>
              <a:t>) </a:t>
            </a:r>
            <a:r>
              <a:rPr sz="1600" b="1" dirty="0" err="1">
                <a:solidFill>
                  <a:srgbClr val="333333"/>
                </a:solidFill>
              </a:rPr>
              <a:t>arttıkça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görülme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oranı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yükselmektedir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CC989D8-A7E9-33C8-7A18-C6C498076524}"/>
              </a:ext>
            </a:extLst>
          </p:cNvPr>
          <p:cNvSpPr txBox="1"/>
          <p:nvPr/>
        </p:nvSpPr>
        <p:spPr>
          <a:xfrm>
            <a:off x="314632" y="164592"/>
            <a:ext cx="11161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Keşifsel</a:t>
            </a:r>
            <a:r>
              <a:rPr dirty="0"/>
              <a:t> Veri </a:t>
            </a:r>
            <a:r>
              <a:rPr dirty="0" err="1"/>
              <a:t>Analizi</a:t>
            </a:r>
            <a:r>
              <a:rPr dirty="0"/>
              <a:t> (EDA)</a:t>
            </a:r>
          </a:p>
        </p:txBody>
      </p:sp>
    </p:spTree>
    <p:extLst>
      <p:ext uri="{BB962C8B-B14F-4D97-AF65-F5344CB8AC3E}">
        <p14:creationId xmlns:p14="http://schemas.microsoft.com/office/powerpoint/2010/main" val="353470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08E2B-01CB-A060-A64F-95F523FB33ED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bmi_category_outcome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678" y="1446483"/>
            <a:ext cx="5889914" cy="34778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35948" y="5413553"/>
            <a:ext cx="8977745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1600" b="1" dirty="0" err="1">
                <a:solidFill>
                  <a:srgbClr val="333333"/>
                </a:solidFill>
              </a:rPr>
              <a:t>Obezite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seviyesinin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artmasıyla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birlikte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diyabet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pozitif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birey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oranının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yükseldiği</a:t>
            </a:r>
            <a:r>
              <a:rPr sz="1600" b="1" dirty="0">
                <a:solidFill>
                  <a:srgbClr val="333333"/>
                </a:solidFill>
              </a:rPr>
              <a:t> </a:t>
            </a:r>
            <a:r>
              <a:rPr sz="1600" b="1" dirty="0" err="1">
                <a:solidFill>
                  <a:srgbClr val="333333"/>
                </a:solidFill>
              </a:rPr>
              <a:t>gözlemlenmektedir</a:t>
            </a:r>
            <a:r>
              <a:rPr sz="1600" b="1" dirty="0">
                <a:solidFill>
                  <a:srgbClr val="33333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421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Metodoloji ve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ColumnTransformer + ImbPipeline + 90 kombinasyon ızgarası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328" y="1109943"/>
            <a:ext cx="178308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2328" y="1117438"/>
            <a:ext cx="16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2000" dirty="0"/>
              <a:t>1. Veri</a:t>
            </a:r>
          </a:p>
          <a:p>
            <a:pPr>
              <a:defRPr sz="1100">
                <a:solidFill>
                  <a:srgbClr val="E8F4F8"/>
                </a:solidFill>
              </a:defRPr>
            </a:pPr>
            <a:r>
              <a:rPr sz="2000" dirty="0"/>
              <a:t>768 </a:t>
            </a:r>
            <a:r>
              <a:rPr sz="2000" dirty="0" err="1"/>
              <a:t>örnek</a:t>
            </a:r>
            <a:r>
              <a:rPr sz="2000" dirty="0"/>
              <a:t>, 8 </a:t>
            </a:r>
            <a:r>
              <a:rPr sz="2000" dirty="0" err="1"/>
              <a:t>sayısal</a:t>
            </a:r>
            <a:r>
              <a:rPr sz="2000" dirty="0"/>
              <a:t> </a:t>
            </a:r>
            <a:r>
              <a:rPr sz="2000" dirty="0" err="1"/>
              <a:t>özellik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2528316" y="1109943"/>
            <a:ext cx="1783080" cy="10058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54324" y="1105031"/>
            <a:ext cx="16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2000" dirty="0"/>
              <a:t>2. </a:t>
            </a:r>
            <a:r>
              <a:rPr sz="2000" dirty="0" err="1"/>
              <a:t>Ön</a:t>
            </a:r>
            <a:r>
              <a:rPr sz="2000" dirty="0"/>
              <a:t> </a:t>
            </a:r>
            <a:r>
              <a:rPr sz="2000" dirty="0" err="1"/>
              <a:t>İşleme</a:t>
            </a:r>
            <a:endParaRPr sz="2000" dirty="0"/>
          </a:p>
          <a:p>
            <a:pPr>
              <a:defRPr sz="1100">
                <a:solidFill>
                  <a:srgbClr val="E8F4F8"/>
                </a:solidFill>
              </a:defRPr>
            </a:pPr>
            <a:r>
              <a:rPr sz="2000" dirty="0"/>
              <a:t>Imputer + IQR + Scaler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701" y="3886200"/>
            <a:ext cx="1783080" cy="10058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9141" y="3904372"/>
            <a:ext cx="160020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900" dirty="0"/>
              <a:t>3. </a:t>
            </a:r>
            <a:r>
              <a:rPr sz="1900" dirty="0" err="1"/>
              <a:t>Örnekleme</a:t>
            </a:r>
            <a:endParaRPr sz="1900" dirty="0"/>
          </a:p>
          <a:p>
            <a:pPr>
              <a:defRPr sz="1100">
                <a:solidFill>
                  <a:srgbClr val="E8F4F8"/>
                </a:solidFill>
              </a:defRPr>
            </a:pPr>
            <a:r>
              <a:rPr sz="1900" dirty="0"/>
              <a:t>SMOTE / 14 </a:t>
            </a:r>
            <a:r>
              <a:rPr sz="1900" dirty="0" err="1"/>
              <a:t>yöntem</a:t>
            </a:r>
            <a:endParaRPr sz="1900" dirty="0"/>
          </a:p>
        </p:txBody>
      </p:sp>
      <p:sp>
        <p:nvSpPr>
          <p:cNvPr id="12" name="Rounded Rectangle 11"/>
          <p:cNvSpPr/>
          <p:nvPr/>
        </p:nvSpPr>
        <p:spPr>
          <a:xfrm>
            <a:off x="227701" y="2423160"/>
            <a:ext cx="1783080" cy="100584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768" y="2539031"/>
            <a:ext cx="16002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900" dirty="0"/>
              <a:t>4. </a:t>
            </a:r>
            <a:r>
              <a:rPr sz="1900" dirty="0" err="1"/>
              <a:t>Modeller</a:t>
            </a:r>
            <a:endParaRPr sz="1900" dirty="0"/>
          </a:p>
          <a:p>
            <a:pPr>
              <a:defRPr sz="1100">
                <a:solidFill>
                  <a:srgbClr val="E8F4F8"/>
                </a:solidFill>
              </a:defRPr>
            </a:pPr>
            <a:r>
              <a:rPr sz="1900" dirty="0"/>
              <a:t>6 </a:t>
            </a:r>
            <a:r>
              <a:rPr sz="1900" dirty="0" err="1"/>
              <a:t>sınıflandırıcı</a:t>
            </a:r>
            <a:endParaRPr sz="1900" dirty="0"/>
          </a:p>
        </p:txBody>
      </p:sp>
      <p:sp>
        <p:nvSpPr>
          <p:cNvPr id="14" name="Rounded Rectangle 13"/>
          <p:cNvSpPr/>
          <p:nvPr/>
        </p:nvSpPr>
        <p:spPr>
          <a:xfrm>
            <a:off x="2462884" y="3904372"/>
            <a:ext cx="1783080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62884" y="2467872"/>
            <a:ext cx="1848512" cy="10058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endParaRPr lang="tr-TR" sz="1700" dirty="0"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rPr lang="en-US" sz="1700" dirty="0"/>
              <a:t>5.Değerlendirme</a:t>
            </a:r>
          </a:p>
          <a:p>
            <a:pPr>
              <a:defRPr sz="1100">
                <a:solidFill>
                  <a:srgbClr val="E8F4F8"/>
                </a:solidFill>
              </a:defRPr>
            </a:pPr>
            <a:r>
              <a:rPr lang="en-US" sz="1700" dirty="0"/>
              <a:t>10-fold CV </a:t>
            </a:r>
            <a:r>
              <a:rPr lang="en-US" sz="1700" dirty="0" err="1"/>
              <a:t>metrikleri</a:t>
            </a:r>
            <a:endParaRPr lang="en-US" sz="1700" dirty="0"/>
          </a:p>
          <a:p>
            <a:pPr algn="ctr"/>
            <a:endParaRPr sz="1700" dirty="0"/>
          </a:p>
        </p:txBody>
      </p:sp>
      <p:sp>
        <p:nvSpPr>
          <p:cNvPr id="17" name="TextBox 16"/>
          <p:cNvSpPr txBox="1"/>
          <p:nvPr/>
        </p:nvSpPr>
        <p:spPr>
          <a:xfrm>
            <a:off x="2528316" y="3922544"/>
            <a:ext cx="178308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sz="1900" dirty="0"/>
              <a:t>6. </a:t>
            </a:r>
            <a:r>
              <a:rPr sz="1900" dirty="0" err="1"/>
              <a:t>Dağıtım</a:t>
            </a:r>
            <a:endParaRPr sz="1900" dirty="0"/>
          </a:p>
          <a:p>
            <a:pPr>
              <a:defRPr sz="1100">
                <a:solidFill>
                  <a:srgbClr val="E8F4F8"/>
                </a:solidFill>
              </a:defRPr>
            </a:pPr>
            <a:r>
              <a:rPr sz="1900" dirty="0" err="1"/>
              <a:t>HistGB</a:t>
            </a:r>
            <a:r>
              <a:rPr sz="1900" dirty="0"/>
              <a:t> + </a:t>
            </a:r>
            <a:r>
              <a:rPr sz="1900" dirty="0" err="1"/>
              <a:t>eşik</a:t>
            </a:r>
            <a:r>
              <a:rPr sz="1900" dirty="0"/>
              <a:t> </a:t>
            </a:r>
            <a:r>
              <a:rPr sz="1900" dirty="0" err="1"/>
              <a:t>optimizasyonu</a:t>
            </a:r>
            <a:endParaRPr sz="1900" dirty="0"/>
          </a:p>
        </p:txBody>
      </p:sp>
      <p:pic>
        <p:nvPicPr>
          <p:cNvPr id="18" name="Picture 17" descr="accuracy_with_without_sampling.png"/>
          <p:cNvPicPr>
            <a:picLocks noChangeAspect="1"/>
          </p:cNvPicPr>
          <p:nvPr/>
        </p:nvPicPr>
        <p:blipFill>
          <a:blip r:embed="rId2"/>
          <a:srcRect r="13092"/>
          <a:stretch>
            <a:fillRect/>
          </a:stretch>
        </p:blipFill>
        <p:spPr>
          <a:xfrm>
            <a:off x="4728872" y="1243821"/>
            <a:ext cx="7169995" cy="36300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8761" y="5331068"/>
            <a:ext cx="11240106" cy="103618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/>
              <a:t>	Yeniden örnekleme tekniklerinin model performansı üzerinde farklı etkiler oluşturduğu görülmektedir. Özellikle </a:t>
            </a:r>
            <a:r>
              <a:rPr lang="tr-TR" sz="1600" b="1" dirty="0" err="1"/>
              <a:t>Gradient</a:t>
            </a:r>
            <a:r>
              <a:rPr lang="tr-TR" sz="1600" b="1" dirty="0"/>
              <a:t> </a:t>
            </a:r>
            <a:r>
              <a:rPr lang="tr-TR" sz="1600" b="1" dirty="0" err="1"/>
              <a:t>Boosting</a:t>
            </a:r>
            <a:r>
              <a:rPr lang="tr-TR" sz="1600" b="1" dirty="0"/>
              <a:t> ve </a:t>
            </a:r>
            <a:r>
              <a:rPr lang="tr-TR" sz="1600" b="1" dirty="0" err="1"/>
              <a:t>Random</a:t>
            </a:r>
            <a:r>
              <a:rPr lang="tr-TR" sz="1600" b="1" dirty="0"/>
              <a:t> </a:t>
            </a:r>
            <a:r>
              <a:rPr lang="tr-TR" sz="1600" b="1" dirty="0" err="1"/>
              <a:t>Forest</a:t>
            </a:r>
            <a:r>
              <a:rPr lang="tr-TR" sz="1600" b="1" dirty="0"/>
              <a:t> modelleri yeniden örnekleme uygulamalarında yüksek doğruluk değerleri elde etmiştir. Fazla ve az örnekleme yöntemlerinin etkisi modele göre değişmekte, bazı modellerde performans artışı sağlanırken bazı modellerde sınırlı değişim gözlemlenmektedir.</a:t>
            </a:r>
            <a:endParaRPr sz="16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Karşılaştırılan Modeller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Aynı pipeline altında 6 algoritma + üretim modeli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580713" cy="7772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07592"/>
            <a:ext cx="1714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400" dirty="0"/>
              <a:t>SVM</a:t>
            </a: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400" dirty="0"/>
              <a:t>RBF kernel, C=0.45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9925" y="1263371"/>
            <a:ext cx="1580713" cy="7772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31277" y="1353974"/>
            <a:ext cx="1387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600" dirty="0" err="1"/>
              <a:t>Lojistik</a:t>
            </a:r>
            <a:r>
              <a:rPr sz="1600" dirty="0"/>
              <a:t> Reg.</a:t>
            </a: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600" dirty="0"/>
              <a:t>Elastic 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1" y="4652202"/>
            <a:ext cx="1580713" cy="7772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 rot="10800000" flipV="1">
            <a:off x="594360" y="4731514"/>
            <a:ext cx="30703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400" dirty="0"/>
              <a:t>k-NN</a:t>
            </a: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400" dirty="0"/>
              <a:t>n=15, distance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1450546" cy="7772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691" y="3458058"/>
            <a:ext cx="147277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600" dirty="0"/>
              <a:t>Random Forest</a:t>
            </a: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200" dirty="0">
                <a:solidFill>
                  <a:schemeClr val="bg1"/>
                </a:solidFill>
              </a:rPr>
              <a:t>120 </a:t>
            </a:r>
            <a:r>
              <a:rPr sz="1200" dirty="0" err="1">
                <a:solidFill>
                  <a:schemeClr val="bg1"/>
                </a:solidFill>
              </a:rPr>
              <a:t>ağaç</a:t>
            </a:r>
            <a:r>
              <a:rPr sz="1200" dirty="0">
                <a:solidFill>
                  <a:schemeClr val="bg1"/>
                </a:solidFill>
              </a:rPr>
              <a:t>, </a:t>
            </a:r>
            <a:endParaRPr lang="tr-TR" sz="1200" dirty="0">
              <a:solidFill>
                <a:schemeClr val="bg1"/>
              </a:solidFill>
            </a:endParaRP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200" dirty="0" err="1">
                <a:solidFill>
                  <a:schemeClr val="bg1"/>
                </a:solidFill>
              </a:rPr>
              <a:t>max_depth</a:t>
            </a:r>
            <a:r>
              <a:rPr sz="1200" dirty="0">
                <a:solidFill>
                  <a:schemeClr val="bg1"/>
                </a:solidFill>
              </a:rPr>
              <a:t>=5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94560"/>
            <a:ext cx="1580713" cy="77724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59" y="2222879"/>
            <a:ext cx="17141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400" dirty="0"/>
              <a:t>AdaBoost</a:t>
            </a: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400" dirty="0"/>
              <a:t>Erken </a:t>
            </a:r>
            <a:r>
              <a:rPr sz="1400" dirty="0" err="1"/>
              <a:t>durdurma</a:t>
            </a:r>
            <a:endParaRPr lang="tr-TR" sz="1400" dirty="0"/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400" dirty="0"/>
              <a:t> (7 est.)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8086" y="2222879"/>
            <a:ext cx="1602552" cy="806846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81639" y="2295021"/>
            <a:ext cx="14570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400" dirty="0"/>
              <a:t>Grad. Boosting</a:t>
            </a: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sz="1400" dirty="0"/>
              <a:t>100 est., subsample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4032" y="3458058"/>
            <a:ext cx="1564651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 sz="1400" dirty="0" err="1">
                <a:solidFill>
                  <a:schemeClr val="tx1"/>
                </a:solidFill>
              </a:rPr>
              <a:t>HistGB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 sz="1000">
                <a:solidFill>
                  <a:srgbClr val="FFB74D"/>
                </a:solidFill>
              </a:defRPr>
            </a:pPr>
            <a:r>
              <a:rPr lang="tr-TR" sz="1400" dirty="0">
                <a:solidFill>
                  <a:schemeClr val="tx1"/>
                </a:solidFill>
              </a:rPr>
              <a:t>Üretim /Dağıtım Modeli</a:t>
            </a:r>
            <a:endParaRPr lang="en-US" sz="1400" dirty="0">
              <a:solidFill>
                <a:schemeClr val="tx1"/>
              </a:solidFill>
            </a:endParaRPr>
          </a:p>
        </p:txBody>
      </p:sp>
      <p:pic>
        <p:nvPicPr>
          <p:cNvPr id="20" name="Picture 19" descr="train_val_epoch_log_loss_all_model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49" y="1263371"/>
            <a:ext cx="7653289" cy="42009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8188" y="5842423"/>
            <a:ext cx="10547532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/>
              <a:t>	Modellerin eğitim süreçleri incelendiğinde, bazı algoritmaların daha hızlı yakınsadığı, bazılarının ise eğitim ve doğrulama kayıpları arasında fark oluşturarak </a:t>
            </a:r>
            <a:r>
              <a:rPr lang="tr-TR" sz="1600" b="1" dirty="0" err="1"/>
              <a:t>overfitting</a:t>
            </a:r>
            <a:r>
              <a:rPr lang="tr-TR" sz="1600" b="1" dirty="0"/>
              <a:t> eğilimi gösterdiği gözlemlenmiştir. Özellikle </a:t>
            </a:r>
            <a:r>
              <a:rPr lang="tr-TR" sz="1600" b="1" dirty="0" err="1"/>
              <a:t>boosting</a:t>
            </a:r>
            <a:r>
              <a:rPr lang="tr-TR" sz="1600" b="1" dirty="0"/>
              <a:t> tabanlı modellerin doğrulama </a:t>
            </a:r>
            <a:r>
              <a:rPr lang="tr-TR" sz="1600" b="1" dirty="0" err="1"/>
              <a:t>loss</a:t>
            </a:r>
            <a:r>
              <a:rPr lang="tr-TR" sz="1600" b="1" dirty="0"/>
              <a:t> değerlerinde daha kararlı bir öğrenme davranışı sergilediği görülmektedir.</a:t>
            </a:r>
            <a:endParaRPr sz="16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5"/>
          <p:cNvSpPr/>
          <p:nvPr/>
        </p:nvSpPr>
        <p:spPr>
          <a:xfrm>
            <a:off x="2539630" y="4613640"/>
            <a:ext cx="1749916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Sonuçlar — Recall Odaklı Şampiyon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10-fold CV OOF — SVM + InstanceHardnessThreshold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7628" y="4675133"/>
            <a:ext cx="2331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87.7%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Recall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rPr dirty="0" err="1"/>
              <a:t>Birincil</a:t>
            </a:r>
            <a:r>
              <a:rPr dirty="0"/>
              <a:t> </a:t>
            </a:r>
            <a:r>
              <a:rPr dirty="0" err="1"/>
              <a:t>seçim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14632" y="4620056"/>
            <a:ext cx="1859936" cy="9601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83" y="4684850"/>
            <a:ext cx="2331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67.5%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F1-Score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4632" y="3444720"/>
            <a:ext cx="1849629" cy="960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157152" y="3536160"/>
            <a:ext cx="2331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82.5%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ROC-AUC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9629" y="3395125"/>
            <a:ext cx="1749916" cy="9601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74568" y="3465880"/>
            <a:ext cx="23317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70.6%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444" y="1329418"/>
            <a:ext cx="455866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dirty="0"/>
              <a:t>Model</a:t>
            </a:r>
            <a:r>
              <a:rPr sz="1600" dirty="0"/>
              <a:t>: SVM (</a:t>
            </a:r>
            <a:r>
              <a:rPr sz="1600" dirty="0" err="1"/>
              <a:t>undersampling</a:t>
            </a:r>
            <a:r>
              <a:rPr sz="1600" dirty="0"/>
              <a:t> / </a:t>
            </a:r>
            <a:r>
              <a:rPr sz="1600" dirty="0" err="1"/>
              <a:t>InstanceHardnessThreshold</a:t>
            </a:r>
            <a:r>
              <a:rPr sz="1600" dirty="0"/>
              <a:t>)</a:t>
            </a:r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sz="1600" dirty="0"/>
              <a:t>• 90 </a:t>
            </a:r>
            <a:r>
              <a:rPr sz="1600" dirty="0" err="1"/>
              <a:t>kombinasyon</a:t>
            </a:r>
            <a:r>
              <a:rPr sz="1600" dirty="0"/>
              <a:t> </a:t>
            </a:r>
            <a:r>
              <a:rPr sz="1600" dirty="0" err="1"/>
              <a:t>arasında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</a:t>
            </a:r>
            <a:r>
              <a:rPr sz="1600" dirty="0" err="1"/>
              <a:t>yüksek</a:t>
            </a:r>
            <a:r>
              <a:rPr sz="1600" dirty="0"/>
              <a:t> recall </a:t>
            </a:r>
            <a:r>
              <a:rPr sz="1600" dirty="0" err="1"/>
              <a:t>seçildi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b="1" dirty="0"/>
              <a:t>Klinik </a:t>
            </a:r>
            <a:r>
              <a:rPr sz="1600" b="1" dirty="0" err="1"/>
              <a:t>bağlam</a:t>
            </a:r>
            <a:r>
              <a:rPr sz="1600" b="1" dirty="0"/>
              <a:t>: </a:t>
            </a:r>
            <a:r>
              <a:rPr sz="1600" dirty="0" err="1"/>
              <a:t>Yanlış</a:t>
            </a:r>
            <a:r>
              <a:rPr sz="1600" dirty="0"/>
              <a:t> </a:t>
            </a:r>
            <a:r>
              <a:rPr sz="1600" dirty="0" err="1"/>
              <a:t>negatif</a:t>
            </a:r>
            <a:r>
              <a:rPr sz="1600" dirty="0"/>
              <a:t> (</a:t>
            </a:r>
            <a:r>
              <a:rPr sz="1600" dirty="0" err="1"/>
              <a:t>diyabeti</a:t>
            </a:r>
            <a:r>
              <a:rPr sz="1600" dirty="0"/>
              <a:t> </a:t>
            </a:r>
            <a:r>
              <a:rPr sz="1600" dirty="0" err="1"/>
              <a:t>kaçırma</a:t>
            </a:r>
            <a:r>
              <a:rPr sz="1600" dirty="0"/>
              <a:t>) minimize </a:t>
            </a:r>
            <a:r>
              <a:rPr sz="1600" dirty="0" err="1"/>
              <a:t>edilir</a:t>
            </a:r>
            <a:r>
              <a:rPr sz="1600" dirty="0"/>
              <a:t>.</a:t>
            </a:r>
            <a:endParaRPr lang="tr-TR" sz="1600" dirty="0"/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endParaRPr sz="1600" dirty="0"/>
          </a:p>
        </p:txBody>
      </p:sp>
      <p:pic>
        <p:nvPicPr>
          <p:cNvPr id="15" name="Picture 14" descr="confusion_matrix_recall_cv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703" y="3814919"/>
            <a:ext cx="3404978" cy="2821267"/>
          </a:xfrm>
          <a:prstGeom prst="rect">
            <a:avLst/>
          </a:prstGeom>
        </p:spPr>
      </p:pic>
      <p:pic>
        <p:nvPicPr>
          <p:cNvPr id="16" name="Picture 15" descr="confusion_matrix_f1_cv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186" y="1094308"/>
            <a:ext cx="3340475" cy="27678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33A990-4325-57FD-7936-302B16447220}"/>
              </a:ext>
            </a:extLst>
          </p:cNvPr>
          <p:cNvSpPr txBox="1"/>
          <p:nvPr/>
        </p:nvSpPr>
        <p:spPr>
          <a:xfrm>
            <a:off x="502920" y="5891058"/>
            <a:ext cx="4343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lang="en-US" sz="1800" b="1" dirty="0"/>
              <a:t>F1 </a:t>
            </a:r>
            <a:r>
              <a:rPr lang="en-US" sz="1800" b="1" dirty="0" err="1"/>
              <a:t>referansı</a:t>
            </a:r>
            <a:r>
              <a:rPr lang="en-US" sz="1800" b="1" dirty="0"/>
              <a:t>: </a:t>
            </a:r>
            <a:r>
              <a:rPr lang="en-US" sz="1800" dirty="0"/>
              <a:t>Gradient Boosting + SVMSMOTE → F1=71.1%, Recall=78.0%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5081" y="4404840"/>
            <a:ext cx="2851280" cy="1528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/>
              <a:t>    </a:t>
            </a:r>
            <a:r>
              <a:rPr lang="tr-TR" sz="1600" b="1" dirty="0" err="1"/>
              <a:t>Recall</a:t>
            </a:r>
            <a:r>
              <a:rPr lang="tr-TR" sz="1600" b="1" dirty="0"/>
              <a:t> odaklı model, diyabet sınıfındaki örneklerin büyük bölümünü doğru tahmin ederek yanlış negatif sayısını azaltmıştır. Bu durum klinik açıdan önemli bir avantaj sağlamaktadır.</a:t>
            </a:r>
            <a:endParaRPr sz="1600" b="1" dirty="0">
              <a:solidFill>
                <a:srgbClr val="33333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83647" y="1937256"/>
            <a:ext cx="2431090" cy="152862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600" b="1" dirty="0">
                <a:solidFill>
                  <a:srgbClr val="333333"/>
                </a:solidFill>
              </a:rPr>
              <a:t>    </a:t>
            </a:r>
            <a:r>
              <a:rPr lang="tr-TR" sz="1600" b="1" dirty="0"/>
              <a:t>F1 odaklı model daha dengeli bir hata profili üretirken, </a:t>
            </a:r>
            <a:r>
              <a:rPr lang="tr-TR" sz="1600" b="1" dirty="0" err="1"/>
              <a:t>recall</a:t>
            </a:r>
            <a:r>
              <a:rPr lang="tr-TR" sz="1600" b="1" dirty="0"/>
              <a:t> odaklı model yanlış negatifleri minimize ederek duyarlılığı artırmıştır.</a:t>
            </a:r>
            <a:endParaRPr sz="16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Dağıtım Modeli (Üretim)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HistGradientBoosting + SMOTE + Recall eşiği (%90–%95)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2606040" cy="9601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3134" y="1240792"/>
            <a:ext cx="1048493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85.2%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Test Recall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rPr sz="1050" dirty="0"/>
              <a:t>Hold-out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188720"/>
            <a:ext cx="2606040" cy="9601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29890" y="1240792"/>
            <a:ext cx="1549400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90.7%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Val</a:t>
            </a:r>
            <a:r>
              <a:rPr lang="tr-TR" sz="1600" dirty="0" err="1"/>
              <a:t>idation</a:t>
            </a:r>
            <a:r>
              <a:rPr sz="1600" dirty="0"/>
              <a:t> Recall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rPr sz="1050" dirty="0" err="1"/>
              <a:t>Doğrulama</a:t>
            </a:r>
            <a:endParaRPr sz="1050" dirty="0"/>
          </a:p>
        </p:txBody>
      </p:sp>
      <p:sp>
        <p:nvSpPr>
          <p:cNvPr id="10" name="Rounded Rectangle 9"/>
          <p:cNvSpPr/>
          <p:nvPr/>
        </p:nvSpPr>
        <p:spPr>
          <a:xfrm>
            <a:off x="6208776" y="1188720"/>
            <a:ext cx="2606040" cy="960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0278" y="1240792"/>
            <a:ext cx="1023036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83.1%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ROC-AUC</a:t>
            </a:r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rPr sz="1050" dirty="0"/>
              <a:t>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5984" y="1188720"/>
            <a:ext cx="2606040" cy="96012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07486" y="1240792"/>
            <a:ext cx="1023036" cy="8925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65.7%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sz="1600" dirty="0"/>
              <a:t>F1</a:t>
            </a:r>
            <a:r>
              <a:rPr lang="tr-TR" sz="1600" dirty="0"/>
              <a:t>-</a:t>
            </a:r>
            <a:r>
              <a:rPr lang="tr-TR" sz="1600" dirty="0" err="1"/>
              <a:t>Score</a:t>
            </a:r>
            <a:endParaRPr sz="1600" dirty="0"/>
          </a:p>
          <a:p>
            <a:pPr algn="ctr">
              <a:defRPr sz="900">
                <a:solidFill>
                  <a:srgbClr val="E8F4F8"/>
                </a:solidFill>
              </a:defRPr>
            </a:pPr>
            <a:r>
              <a:rPr sz="1050" dirty="0"/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58" y="2319619"/>
            <a:ext cx="1069510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HistGradientBoostingClassifier</a:t>
            </a:r>
            <a:r>
              <a:rPr sz="1600" dirty="0"/>
              <a:t> + SMOTE (</a:t>
            </a:r>
            <a:r>
              <a:rPr sz="1600" b="1" dirty="0">
                <a:highlight>
                  <a:srgbClr val="FFFF00"/>
                </a:highlight>
              </a:rPr>
              <a:t>k=3</a:t>
            </a:r>
            <a:r>
              <a:rPr sz="1600" dirty="0"/>
              <a:t>)</a:t>
            </a:r>
            <a:r>
              <a:rPr lang="tr-TR" sz="1600" dirty="0"/>
              <a:t>                       • Sınıflandırma eşiği </a:t>
            </a:r>
            <a:r>
              <a:rPr lang="tr-TR" sz="1600" dirty="0" err="1"/>
              <a:t>recall</a:t>
            </a:r>
            <a:r>
              <a:rPr lang="tr-TR" sz="1600" dirty="0"/>
              <a:t> </a:t>
            </a:r>
            <a:r>
              <a:rPr lang="tr-TR" sz="1600" b="1" dirty="0">
                <a:highlight>
                  <a:srgbClr val="FFFF00"/>
                </a:highlight>
              </a:rPr>
              <a:t>%90–%95 </a:t>
            </a:r>
            <a:r>
              <a:rPr lang="tr-TR" sz="1600" dirty="0"/>
              <a:t>bandına göre ayarlandı</a:t>
            </a:r>
            <a:endParaRPr sz="1600" dirty="0"/>
          </a:p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RandomizedSearchCV</a:t>
            </a:r>
            <a:r>
              <a:rPr sz="1600" dirty="0"/>
              <a:t> (36 iter, </a:t>
            </a:r>
            <a:r>
              <a:rPr sz="1600" dirty="0" err="1"/>
              <a:t>roc_auc</a:t>
            </a:r>
            <a:r>
              <a:rPr sz="1600" dirty="0"/>
              <a:t> </a:t>
            </a:r>
            <a:r>
              <a:rPr sz="1600" dirty="0" err="1"/>
              <a:t>skoru</a:t>
            </a:r>
            <a:r>
              <a:rPr sz="1600" dirty="0"/>
              <a:t>)</a:t>
            </a:r>
            <a:r>
              <a:rPr lang="tr-TR" sz="1600" dirty="0"/>
              <a:t>                       • Optimal eşik (validasyon): </a:t>
            </a:r>
            <a:r>
              <a:rPr lang="tr-TR" sz="1600" b="1" dirty="0">
                <a:highlight>
                  <a:srgbClr val="FFFF00"/>
                </a:highlight>
              </a:rPr>
              <a:t>0.323</a:t>
            </a:r>
          </a:p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  <a:latin typeface="Calibri"/>
              </a:defRPr>
            </a:pPr>
            <a:endParaRPr lang="tr-TR" sz="1600" dirty="0"/>
          </a:p>
        </p:txBody>
      </p:sp>
      <p:pic>
        <p:nvPicPr>
          <p:cNvPr id="15" name="Picture 14" descr="confusion_matrix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58" y="4182255"/>
            <a:ext cx="3128327" cy="2485271"/>
          </a:xfrm>
          <a:prstGeom prst="rect">
            <a:avLst/>
          </a:prstGeom>
        </p:spPr>
      </p:pic>
      <p:pic>
        <p:nvPicPr>
          <p:cNvPr id="16" name="Picture 15" descr="roc_curve_bes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383" y="3950366"/>
            <a:ext cx="3229325" cy="2732506"/>
          </a:xfrm>
          <a:prstGeom prst="rect">
            <a:avLst/>
          </a:prstGeom>
        </p:spPr>
      </p:pic>
      <p:pic>
        <p:nvPicPr>
          <p:cNvPr id="17" name="Picture 16" descr="confusion_matrix_validation_hold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727" y="3935021"/>
            <a:ext cx="3279008" cy="273250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7530" y="3394965"/>
            <a:ext cx="3931422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dirty="0"/>
              <a:t>ROC-AUC ≈ 0,83 </a:t>
            </a:r>
            <a:r>
              <a:rPr lang="en-US" sz="1400" b="1" dirty="0" err="1"/>
              <a:t>değeri</a:t>
            </a:r>
            <a:r>
              <a:rPr lang="en-US" sz="1400" b="1" dirty="0"/>
              <a:t> </a:t>
            </a:r>
            <a:r>
              <a:rPr lang="en-US" sz="1400" b="1" dirty="0" err="1"/>
              <a:t>modelin</a:t>
            </a:r>
            <a:r>
              <a:rPr lang="en-US" sz="1400" b="1" dirty="0"/>
              <a:t> </a:t>
            </a:r>
            <a:r>
              <a:rPr lang="en-US" sz="1400" b="1" dirty="0" err="1"/>
              <a:t>başarılı</a:t>
            </a:r>
            <a:r>
              <a:rPr lang="en-US" sz="1400" b="1" dirty="0"/>
              <a:t> </a:t>
            </a:r>
            <a:r>
              <a:rPr lang="en-US" sz="1400" b="1" dirty="0" err="1"/>
              <a:t>ayırt</a:t>
            </a:r>
            <a:r>
              <a:rPr lang="en-US" sz="1400" b="1" dirty="0"/>
              <a:t> </a:t>
            </a:r>
            <a:r>
              <a:rPr lang="en-US" sz="1400" b="1" dirty="0" err="1"/>
              <a:t>etme</a:t>
            </a:r>
            <a:r>
              <a:rPr lang="en-US" sz="1400" b="1" dirty="0"/>
              <a:t> </a:t>
            </a:r>
            <a:r>
              <a:rPr lang="en-US" sz="1400" b="1" dirty="0" err="1"/>
              <a:t>performansı</a:t>
            </a:r>
            <a:r>
              <a:rPr lang="en-US" sz="1400" b="1" dirty="0"/>
              <a:t> </a:t>
            </a:r>
            <a:r>
              <a:rPr lang="en-US" sz="1400" b="1" dirty="0" err="1"/>
              <a:t>gösterdiğini</a:t>
            </a:r>
            <a:r>
              <a:rPr lang="en-US" sz="1400" b="1" dirty="0"/>
              <a:t> </a:t>
            </a:r>
            <a:r>
              <a:rPr lang="en-US" sz="1400" b="1" dirty="0" err="1"/>
              <a:t>ortaya</a:t>
            </a:r>
            <a:r>
              <a:rPr lang="en-US" sz="1400" b="1" dirty="0"/>
              <a:t> </a:t>
            </a:r>
            <a:r>
              <a:rPr lang="en-US" sz="1400" b="1" dirty="0" err="1"/>
              <a:t>koymaktadır</a:t>
            </a:r>
            <a:r>
              <a:rPr lang="en-US" sz="1400" b="1" dirty="0"/>
              <a:t>.</a:t>
            </a:r>
            <a:endParaRPr sz="1400" b="1" dirty="0">
              <a:solidFill>
                <a:srgbClr val="33333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69272" y="3394965"/>
            <a:ext cx="3279008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dirty="0" err="1"/>
              <a:t>Eşik</a:t>
            </a:r>
            <a:r>
              <a:rPr lang="en-US" sz="1400" b="1" dirty="0"/>
              <a:t> </a:t>
            </a:r>
            <a:r>
              <a:rPr lang="en-US" sz="1400" b="1" dirty="0" err="1"/>
              <a:t>optimizasyonu</a:t>
            </a:r>
            <a:r>
              <a:rPr lang="en-US" sz="1400" b="1" dirty="0"/>
              <a:t> </a:t>
            </a:r>
            <a:r>
              <a:rPr lang="en-US" sz="1400" b="1" dirty="0" err="1"/>
              <a:t>sonrası</a:t>
            </a:r>
            <a:r>
              <a:rPr lang="en-US" sz="1400" b="1" dirty="0"/>
              <a:t> model </a:t>
            </a:r>
            <a:r>
              <a:rPr lang="en-US" sz="1400" b="1" dirty="0" err="1"/>
              <a:t>yüksek</a:t>
            </a:r>
            <a:r>
              <a:rPr lang="en-US" sz="1400" b="1" dirty="0"/>
              <a:t> recall </a:t>
            </a:r>
            <a:r>
              <a:rPr lang="en-US" sz="1400" b="1" dirty="0" err="1"/>
              <a:t>ile</a:t>
            </a:r>
            <a:r>
              <a:rPr lang="en-US" sz="1400" b="1" dirty="0"/>
              <a:t> </a:t>
            </a:r>
            <a:r>
              <a:rPr lang="en-US" sz="1400" b="1" dirty="0" err="1"/>
              <a:t>yanlış</a:t>
            </a:r>
            <a:r>
              <a:rPr lang="en-US" sz="1400" b="1" dirty="0"/>
              <a:t> </a:t>
            </a:r>
            <a:r>
              <a:rPr lang="en-US" sz="1400" b="1" dirty="0" err="1"/>
              <a:t>negatifleri</a:t>
            </a:r>
            <a:r>
              <a:rPr lang="en-US" sz="1400" b="1" dirty="0"/>
              <a:t> </a:t>
            </a:r>
            <a:r>
              <a:rPr lang="en-US" sz="1400" b="1" dirty="0" err="1"/>
              <a:t>azaltmıştır</a:t>
            </a:r>
            <a:r>
              <a:rPr lang="en-US" sz="1400" b="1" dirty="0"/>
              <a:t>.</a:t>
            </a:r>
            <a:endParaRPr sz="1400" b="1" dirty="0">
              <a:solidFill>
                <a:srgbClr val="33333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2A5276-7362-148C-827F-1AA562FF4E54}"/>
              </a:ext>
            </a:extLst>
          </p:cNvPr>
          <p:cNvSpPr txBox="1"/>
          <p:nvPr/>
        </p:nvSpPr>
        <p:spPr>
          <a:xfrm>
            <a:off x="569304" y="3345563"/>
            <a:ext cx="3931423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600" b="1" dirty="0" err="1"/>
              <a:t>Modelin</a:t>
            </a:r>
            <a:r>
              <a:rPr lang="en-US" sz="1600" b="1" dirty="0"/>
              <a:t> </a:t>
            </a:r>
            <a:r>
              <a:rPr lang="en-US" sz="1600" b="1" dirty="0" err="1"/>
              <a:t>diyabet</a:t>
            </a:r>
            <a:r>
              <a:rPr lang="en-US" sz="1600" b="1" dirty="0"/>
              <a:t> </a:t>
            </a:r>
            <a:r>
              <a:rPr lang="en-US" sz="1600" b="1" dirty="0" err="1"/>
              <a:t>sınıfını</a:t>
            </a:r>
            <a:r>
              <a:rPr lang="en-US" sz="1600" b="1" dirty="0"/>
              <a:t> </a:t>
            </a:r>
            <a:r>
              <a:rPr lang="en-US" sz="1600" b="1" dirty="0" err="1"/>
              <a:t>yüksek</a:t>
            </a:r>
            <a:r>
              <a:rPr lang="en-US" sz="1600" b="1" dirty="0"/>
              <a:t> </a:t>
            </a:r>
            <a:r>
              <a:rPr lang="en-US" sz="1600" b="1" dirty="0" err="1"/>
              <a:t>başarıyla</a:t>
            </a:r>
            <a:r>
              <a:rPr lang="en-US" sz="1600" b="1" dirty="0"/>
              <a:t> </a:t>
            </a:r>
            <a:r>
              <a:rPr lang="en-US" sz="1600" b="1" dirty="0" err="1"/>
              <a:t>tespit</a:t>
            </a:r>
            <a:r>
              <a:rPr lang="en-US" sz="1600" b="1" dirty="0"/>
              <a:t> </a:t>
            </a:r>
            <a:r>
              <a:rPr lang="en-US" sz="1600" b="1" dirty="0" err="1"/>
              <a:t>ettiği</a:t>
            </a:r>
            <a:r>
              <a:rPr lang="en-US" sz="1600" b="1" dirty="0"/>
              <a:t> </a:t>
            </a:r>
            <a:r>
              <a:rPr lang="en-US" sz="1600" b="1" dirty="0" err="1"/>
              <a:t>ve</a:t>
            </a:r>
            <a:r>
              <a:rPr lang="en-US" sz="1600" b="1" dirty="0"/>
              <a:t> </a:t>
            </a:r>
            <a:r>
              <a:rPr lang="en-US" sz="1600" b="1" dirty="0" err="1"/>
              <a:t>yanlış</a:t>
            </a:r>
            <a:r>
              <a:rPr lang="en-US" sz="1600" b="1" dirty="0"/>
              <a:t> </a:t>
            </a:r>
            <a:r>
              <a:rPr lang="en-US" sz="1600" b="1" dirty="0" err="1"/>
              <a:t>negatif</a:t>
            </a:r>
            <a:r>
              <a:rPr lang="en-US" sz="1600" b="1" dirty="0"/>
              <a:t> </a:t>
            </a:r>
            <a:r>
              <a:rPr lang="en-US" sz="1600" b="1" dirty="0" err="1"/>
              <a:t>oranını</a:t>
            </a:r>
            <a:r>
              <a:rPr lang="en-US" sz="1600" b="1" dirty="0"/>
              <a:t> </a:t>
            </a:r>
            <a:r>
              <a:rPr lang="en-US" sz="1600" b="1" dirty="0" err="1"/>
              <a:t>düşük</a:t>
            </a:r>
            <a:r>
              <a:rPr lang="en-US" sz="1600" b="1" dirty="0"/>
              <a:t> </a:t>
            </a:r>
            <a:r>
              <a:rPr lang="en-US" sz="1600" b="1" dirty="0" err="1"/>
              <a:t>tuttuğu</a:t>
            </a:r>
            <a:r>
              <a:rPr lang="en-US" sz="1600" b="1" dirty="0"/>
              <a:t> </a:t>
            </a:r>
            <a:r>
              <a:rPr lang="en-US" sz="1600" b="1" dirty="0" err="1"/>
              <a:t>görülmektedir</a:t>
            </a:r>
            <a:r>
              <a:rPr lang="en-US" sz="1600" b="1" dirty="0"/>
              <a:t>.</a:t>
            </a:r>
            <a:endParaRPr sz="16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Eğitim Süreci ve Overfitting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10-fold CV — train vs validation</a:t>
            </a:r>
          </a:p>
        </p:txBody>
      </p:sp>
      <p:pic>
        <p:nvPicPr>
          <p:cNvPr id="6" name="Picture 5" descr="training_valid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00" y="1013735"/>
            <a:ext cx="4154757" cy="2147185"/>
          </a:xfrm>
          <a:prstGeom prst="rect">
            <a:avLst/>
          </a:prstGeom>
        </p:spPr>
      </p:pic>
      <p:pic>
        <p:nvPicPr>
          <p:cNvPr id="7" name="Picture 6" descr="training_validation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021" y="1027816"/>
            <a:ext cx="4055494" cy="2206256"/>
          </a:xfrm>
          <a:prstGeom prst="rect">
            <a:avLst/>
          </a:prstGeom>
        </p:spPr>
      </p:pic>
      <p:pic>
        <p:nvPicPr>
          <p:cNvPr id="8" name="Picture 7" descr="loss_curve_hist_gradient_boos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96" y="3896254"/>
            <a:ext cx="4066962" cy="2195467"/>
          </a:xfrm>
          <a:prstGeom prst="rect">
            <a:avLst/>
          </a:prstGeom>
        </p:spPr>
      </p:pic>
      <p:pic>
        <p:nvPicPr>
          <p:cNvPr id="9" name="Picture 8" descr="training_boosting_iteration_sco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021" y="3954930"/>
            <a:ext cx="4143886" cy="2214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169112"/>
            <a:ext cx="4552904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dirty="0" err="1"/>
              <a:t>Eğriler</a:t>
            </a:r>
            <a:r>
              <a:rPr lang="en-US" sz="1400" b="1" dirty="0"/>
              <a:t> </a:t>
            </a:r>
            <a:r>
              <a:rPr lang="en-US" sz="1400" b="1" dirty="0" err="1"/>
              <a:t>arasındaki</a:t>
            </a:r>
            <a:r>
              <a:rPr lang="en-US" sz="1400" b="1" dirty="0"/>
              <a:t> </a:t>
            </a:r>
            <a:r>
              <a:rPr lang="en-US" sz="1400" b="1" dirty="0" err="1"/>
              <a:t>sınırlı</a:t>
            </a:r>
            <a:r>
              <a:rPr lang="en-US" sz="1400" b="1" dirty="0"/>
              <a:t> fark </a:t>
            </a:r>
            <a:r>
              <a:rPr lang="en-US" sz="1400" b="1" dirty="0" err="1"/>
              <a:t>modelin</a:t>
            </a:r>
            <a:r>
              <a:rPr lang="en-US" sz="1400" b="1" dirty="0"/>
              <a:t> </a:t>
            </a:r>
            <a:r>
              <a:rPr lang="en-US" sz="1400" b="1" dirty="0" err="1"/>
              <a:t>dengeli</a:t>
            </a:r>
            <a:r>
              <a:rPr lang="en-US" sz="1400" b="1" dirty="0"/>
              <a:t> </a:t>
            </a:r>
            <a:r>
              <a:rPr lang="en-US" sz="1400" b="1" dirty="0" err="1"/>
              <a:t>genelleme</a:t>
            </a:r>
            <a:r>
              <a:rPr lang="en-US" sz="1400" b="1" dirty="0"/>
              <a:t> </a:t>
            </a:r>
            <a:r>
              <a:rPr lang="en-US" sz="1400" b="1" dirty="0" err="1"/>
              <a:t>performansı</a:t>
            </a:r>
            <a:r>
              <a:rPr lang="en-US" sz="1400" b="1" dirty="0"/>
              <a:t> </a:t>
            </a:r>
            <a:r>
              <a:rPr lang="en-US" sz="1400" b="1" dirty="0" err="1"/>
              <a:t>gösterdiğini</a:t>
            </a:r>
            <a:r>
              <a:rPr lang="en-US" sz="1400" b="1" dirty="0"/>
              <a:t> </a:t>
            </a:r>
            <a:r>
              <a:rPr lang="en-US" sz="1400" b="1" dirty="0" err="1"/>
              <a:t>ortaya</a:t>
            </a:r>
            <a:r>
              <a:rPr lang="en-US" sz="1400" b="1" dirty="0"/>
              <a:t> </a:t>
            </a:r>
            <a:r>
              <a:rPr lang="en-US" sz="1400" b="1" dirty="0" err="1"/>
              <a:t>koymaktadır</a:t>
            </a:r>
            <a:r>
              <a:rPr lang="en-US" sz="1400" b="1" dirty="0"/>
              <a:t>.</a:t>
            </a:r>
            <a:endParaRPr sz="1400" b="1" dirty="0">
              <a:solidFill>
                <a:srgbClr val="33333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89021" y="6173398"/>
            <a:ext cx="4337739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sz="1400" b="1" dirty="0" err="1"/>
              <a:t>Doğrulama</a:t>
            </a:r>
            <a:r>
              <a:rPr lang="en-US" sz="1400" b="1" dirty="0"/>
              <a:t> </a:t>
            </a:r>
            <a:r>
              <a:rPr lang="en-US" sz="1400" b="1" dirty="0" err="1"/>
              <a:t>kaybının</a:t>
            </a:r>
            <a:r>
              <a:rPr lang="en-US" sz="1400" b="1" dirty="0"/>
              <a:t> </a:t>
            </a:r>
            <a:r>
              <a:rPr lang="en-US" sz="1400" b="1" dirty="0" err="1"/>
              <a:t>dengelenmesi</a:t>
            </a:r>
            <a:r>
              <a:rPr lang="en-US" sz="1400" b="1" dirty="0"/>
              <a:t> early stopping </a:t>
            </a:r>
            <a:r>
              <a:rPr lang="en-US" sz="1400" b="1" dirty="0" err="1"/>
              <a:t>yönteminin</a:t>
            </a:r>
            <a:r>
              <a:rPr lang="en-US" sz="1400" b="1" dirty="0"/>
              <a:t> </a:t>
            </a:r>
            <a:r>
              <a:rPr lang="en-US" sz="1400" b="1" dirty="0" err="1"/>
              <a:t>etkili</a:t>
            </a:r>
            <a:r>
              <a:rPr lang="en-US" sz="1400" b="1" dirty="0"/>
              <a:t> </a:t>
            </a:r>
            <a:r>
              <a:rPr lang="en-US" sz="1400" b="1" dirty="0" err="1"/>
              <a:t>çalıştığını</a:t>
            </a:r>
            <a:r>
              <a:rPr lang="en-US" sz="1400" b="1" dirty="0"/>
              <a:t> </a:t>
            </a:r>
            <a:r>
              <a:rPr lang="en-US" sz="1400" b="1" dirty="0" err="1"/>
              <a:t>göstermektedir</a:t>
            </a:r>
            <a:r>
              <a:rPr lang="en-US" sz="1400" b="1" dirty="0"/>
              <a:t>.”</a:t>
            </a:r>
            <a:endParaRPr sz="1400" b="1" dirty="0">
              <a:solidFill>
                <a:srgbClr val="33333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1578" y="3121237"/>
            <a:ext cx="5175587" cy="6976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400" dirty="0"/>
              <a:t>    </a:t>
            </a:r>
            <a:r>
              <a:rPr lang="tr-TR" sz="1400" b="1" dirty="0"/>
              <a:t>Eğitim ve doğrulama </a:t>
            </a:r>
            <a:r>
              <a:rPr lang="tr-TR" sz="1400" b="1" dirty="0" err="1"/>
              <a:t>accuracy</a:t>
            </a:r>
            <a:r>
              <a:rPr lang="tr-TR" sz="1400" b="1" dirty="0"/>
              <a:t> değerlerinin birbirine yakın seyretmesi modelin </a:t>
            </a:r>
            <a:r>
              <a:rPr lang="tr-TR" sz="1400" b="1" dirty="0" err="1"/>
              <a:t>fold’lar</a:t>
            </a:r>
            <a:r>
              <a:rPr lang="tr-TR" sz="1400" b="1" dirty="0"/>
              <a:t> arasında tutarlı bir genelleme performansı sergilediğini göstermektedir.</a:t>
            </a:r>
            <a:endParaRPr sz="1400" b="1" dirty="0">
              <a:solidFill>
                <a:srgbClr val="33333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31654" y="3222878"/>
            <a:ext cx="5571128" cy="6514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tr-TR" sz="1300" b="1" dirty="0"/>
              <a:t>    Eğitim ve doğrulama </a:t>
            </a:r>
            <a:r>
              <a:rPr lang="tr-TR" sz="1300" b="1" dirty="0" err="1"/>
              <a:t>loss</a:t>
            </a:r>
            <a:r>
              <a:rPr lang="tr-TR" sz="1300" b="1" dirty="0"/>
              <a:t> değerlerinin benzer düzeylerde seyretmesi modelin aşırı öğrenmeye sınırlı düzeyde eğilim gösterdiğini ve kabul edilebilir genelleme performansı sunduğunu göstermektedir.</a:t>
            </a:r>
            <a:endParaRPr sz="1300" b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Streamlit</a:t>
            </a:r>
            <a:r>
              <a:rPr dirty="0"/>
              <a:t> Web </a:t>
            </a:r>
            <a:r>
              <a:rPr dirty="0" err="1"/>
              <a:t>Uygulaması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B74D"/>
                </a:solidFill>
                <a:latin typeface="Calibri"/>
              </a:defRPr>
            </a:pPr>
            <a:r>
              <a:t>İnteraktif tahmin ve model analizi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029200" cy="8686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294087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 Ana </a:t>
            </a:r>
            <a:r>
              <a:rPr dirty="0" err="1"/>
              <a:t>Sayfa</a:t>
            </a:r>
            <a:endParaRPr dirty="0"/>
          </a:p>
          <a:p>
            <a:pPr>
              <a:defRPr sz="1200">
                <a:solidFill>
                  <a:srgbClr val="E8F4F8"/>
                </a:solidFill>
              </a:defRPr>
            </a:pPr>
            <a:r>
              <a:rPr sz="1400" dirty="0" err="1"/>
              <a:t>Proje</a:t>
            </a:r>
            <a:r>
              <a:rPr sz="1400" dirty="0"/>
              <a:t> </a:t>
            </a:r>
            <a:r>
              <a:rPr sz="1400" dirty="0" err="1"/>
              <a:t>özeti</a:t>
            </a:r>
            <a:r>
              <a:rPr sz="1400" dirty="0"/>
              <a:t>, </a:t>
            </a:r>
            <a:r>
              <a:rPr sz="1400" dirty="0" err="1"/>
              <a:t>metrikler</a:t>
            </a:r>
            <a:r>
              <a:rPr sz="1400" dirty="0"/>
              <a:t>, </a:t>
            </a:r>
            <a:r>
              <a:rPr sz="1400" dirty="0" err="1"/>
              <a:t>veri</a:t>
            </a:r>
            <a:r>
              <a:rPr sz="1400" dirty="0"/>
              <a:t> </a:t>
            </a:r>
            <a:r>
              <a:rPr sz="1400" dirty="0" err="1"/>
              <a:t>istatistikleri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5029200" cy="8686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41448"/>
            <a:ext cx="219746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Tahmin</a:t>
            </a:r>
            <a:endParaRPr dirty="0"/>
          </a:p>
          <a:p>
            <a:pPr>
              <a:defRPr sz="1200">
                <a:solidFill>
                  <a:srgbClr val="E8F4F8"/>
                </a:solidFill>
              </a:defRPr>
            </a:pPr>
            <a:r>
              <a:rPr sz="1400" dirty="0" err="1"/>
              <a:t>Kişisel</a:t>
            </a:r>
            <a:r>
              <a:rPr sz="1400" dirty="0"/>
              <a:t> </a:t>
            </a:r>
            <a:r>
              <a:rPr sz="1400" dirty="0" err="1"/>
              <a:t>verilerle</a:t>
            </a:r>
            <a:r>
              <a:rPr sz="1400" dirty="0"/>
              <a:t> </a:t>
            </a:r>
            <a:r>
              <a:rPr sz="1400" dirty="0" err="1"/>
              <a:t>diyabet</a:t>
            </a:r>
            <a:r>
              <a:rPr sz="1400" dirty="0"/>
              <a:t> </a:t>
            </a:r>
            <a:r>
              <a:rPr sz="1400" dirty="0" err="1"/>
              <a:t>riski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594360" y="3383280"/>
            <a:ext cx="5029200" cy="8686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8"/>
            <a:ext cx="187628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 Model </a:t>
            </a:r>
            <a:r>
              <a:rPr dirty="0" err="1"/>
              <a:t>Analizi</a:t>
            </a:r>
            <a:endParaRPr dirty="0"/>
          </a:p>
          <a:p>
            <a:pPr>
              <a:defRPr sz="1200">
                <a:solidFill>
                  <a:srgbClr val="E8F4F8"/>
                </a:solidFill>
              </a:defRPr>
            </a:pPr>
            <a:r>
              <a:rPr sz="1400" dirty="0" err="1"/>
              <a:t>Performans</a:t>
            </a:r>
            <a:r>
              <a:rPr sz="1400" dirty="0"/>
              <a:t> </a:t>
            </a:r>
            <a:r>
              <a:rPr sz="1400" dirty="0" err="1"/>
              <a:t>ve</a:t>
            </a:r>
            <a:r>
              <a:rPr sz="1400" dirty="0"/>
              <a:t> </a:t>
            </a:r>
            <a:r>
              <a:rPr sz="1400" dirty="0" err="1"/>
              <a:t>detaylar</a:t>
            </a:r>
            <a:endParaRPr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594360" y="4434840"/>
            <a:ext cx="5029200" cy="86868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555136"/>
            <a:ext cx="118500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 err="1"/>
              <a:t>Hakkında</a:t>
            </a:r>
            <a:endParaRPr dirty="0"/>
          </a:p>
          <a:p>
            <a:pPr>
              <a:defRPr sz="1200">
                <a:solidFill>
                  <a:srgbClr val="E8F4F8"/>
                </a:solidFill>
              </a:defRPr>
            </a:pPr>
            <a:r>
              <a:rPr sz="1400" dirty="0"/>
              <a:t>Teknik </a:t>
            </a:r>
            <a:r>
              <a:rPr sz="1400" dirty="0" err="1"/>
              <a:t>bilgiler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594360" y="577339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rPr sz="1600" dirty="0" err="1"/>
              <a:t>Çalıştırma</a:t>
            </a:r>
            <a:r>
              <a:rPr lang="tr-TR" sz="1600" dirty="0"/>
              <a:t>k için terminal kodu </a:t>
            </a:r>
            <a:r>
              <a:rPr sz="1600" dirty="0"/>
              <a:t>: </a:t>
            </a:r>
            <a:r>
              <a:rPr lang="en-US" sz="1600" dirty="0" err="1"/>
              <a:t>streamlit</a:t>
            </a:r>
            <a:r>
              <a:rPr lang="en-US" sz="1600" dirty="0"/>
              <a:t> run </a:t>
            </a:r>
            <a:r>
              <a:rPr lang="en-US" sz="1600" dirty="0" err="1"/>
              <a:t>app.p</a:t>
            </a:r>
            <a:endParaRPr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5943600" y="1280160"/>
            <a:ext cx="566928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sz="2000" dirty="0"/>
              <a:t>• </a:t>
            </a:r>
            <a:r>
              <a:rPr sz="2000" b="1" dirty="0"/>
              <a:t>CLI: </a:t>
            </a:r>
            <a:r>
              <a:rPr sz="2000" dirty="0"/>
              <a:t>python main.py train | report | predict</a:t>
            </a:r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sz="2000" dirty="0"/>
              <a:t>• </a:t>
            </a:r>
            <a:r>
              <a:rPr sz="2000" b="1" dirty="0" err="1"/>
              <a:t>Tekrarlanabilirlik</a:t>
            </a:r>
            <a:r>
              <a:rPr sz="2000" b="1" dirty="0"/>
              <a:t>: </a:t>
            </a:r>
            <a:r>
              <a:rPr sz="2000" dirty="0"/>
              <a:t>SEED=42, </a:t>
            </a:r>
            <a:r>
              <a:rPr sz="2000" dirty="0" err="1"/>
              <a:t>sabit</a:t>
            </a:r>
            <a:r>
              <a:rPr sz="2000" dirty="0"/>
              <a:t> train/</a:t>
            </a:r>
            <a:r>
              <a:rPr sz="2000" dirty="0" err="1"/>
              <a:t>val</a:t>
            </a:r>
            <a:r>
              <a:rPr sz="2000" dirty="0"/>
              <a:t>/test</a:t>
            </a:r>
          </a:p>
          <a:p>
            <a:pPr>
              <a:spcAft>
                <a:spcPts val="800"/>
              </a:spcAft>
              <a:defRPr sz="1500">
                <a:solidFill>
                  <a:srgbClr val="263238"/>
                </a:solidFill>
                <a:latin typeface="Calibri"/>
              </a:defRPr>
            </a:pPr>
            <a:r>
              <a:rPr sz="2000" dirty="0"/>
              <a:t>• </a:t>
            </a:r>
            <a:r>
              <a:rPr sz="2000" b="1" dirty="0" err="1"/>
              <a:t>Çıktılar</a:t>
            </a:r>
            <a:r>
              <a:rPr sz="2000" b="1" dirty="0"/>
              <a:t>: </a:t>
            </a:r>
            <a:r>
              <a:rPr sz="2000" dirty="0"/>
              <a:t>outputs/figures, </a:t>
            </a:r>
            <a:r>
              <a:rPr sz="2000" dirty="0" err="1"/>
              <a:t>metrics_summary.json</a:t>
            </a:r>
            <a:r>
              <a:rPr sz="2000" dirty="0"/>
              <a:t>, report.md</a:t>
            </a:r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777D620B-A19D-254A-3AD4-D7026EEB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233" y="3345555"/>
            <a:ext cx="5889523" cy="27135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6F5442-393D-C2A4-7550-DF31CEC979BD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lang="tr-TR" dirty="0"/>
              <a:t>     </a:t>
            </a:r>
            <a:r>
              <a:rPr lang="en-US" dirty="0" err="1"/>
              <a:t>Streamlit</a:t>
            </a:r>
            <a:r>
              <a:rPr lang="en-US" dirty="0"/>
              <a:t> Web </a:t>
            </a:r>
            <a:r>
              <a:rPr lang="en-US" dirty="0" err="1"/>
              <a:t>Uygulaması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A06F6D-BECD-31B6-44DD-BD1B4AA8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985" y="1151516"/>
            <a:ext cx="5205209" cy="2379523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FEB9281-770F-4D07-6224-31E46669F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7" y="1151516"/>
            <a:ext cx="5198990" cy="2379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F489E4-089C-0CA2-438B-082A0556C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29" y="3899414"/>
            <a:ext cx="5238788" cy="2379523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7400B4A5-924C-EACB-1E07-AB1593860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297" y="3899415"/>
            <a:ext cx="5105897" cy="232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3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BA541B-D754-1017-79F4-9A8360B35826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tr-TR" dirty="0"/>
              <a:t>       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Öneriler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03EA7-859F-FC86-5AD2-6C763F8FE386}"/>
              </a:ext>
            </a:extLst>
          </p:cNvPr>
          <p:cNvSpPr txBox="1"/>
          <p:nvPr/>
        </p:nvSpPr>
        <p:spPr>
          <a:xfrm>
            <a:off x="580868" y="1453249"/>
            <a:ext cx="89678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• Recall </a:t>
            </a:r>
            <a:r>
              <a:rPr lang="en-US" sz="2000" dirty="0" err="1"/>
              <a:t>odaklı</a:t>
            </a:r>
            <a:r>
              <a:rPr lang="en-US" sz="2000" dirty="0"/>
              <a:t> </a:t>
            </a:r>
            <a:r>
              <a:rPr lang="en-US" sz="2000" dirty="0" err="1"/>
              <a:t>ızgara</a:t>
            </a:r>
            <a:r>
              <a:rPr lang="en-US" sz="2000" dirty="0"/>
              <a:t> </a:t>
            </a:r>
            <a:r>
              <a:rPr lang="en-US" sz="2000" dirty="0" err="1"/>
              <a:t>şampiyonu</a:t>
            </a:r>
            <a:r>
              <a:rPr lang="en-US" sz="2000" dirty="0"/>
              <a:t>: SVM — CV recall </a:t>
            </a:r>
            <a:r>
              <a:rPr lang="en-US" sz="2000" b="1" dirty="0">
                <a:highlight>
                  <a:srgbClr val="FFFF00"/>
                </a:highlight>
              </a:rPr>
              <a:t>%87.7</a:t>
            </a:r>
            <a:endParaRPr lang="tr-TR" sz="2000" b="1" dirty="0">
              <a:highlight>
                <a:srgbClr val="FFFF00"/>
              </a:highlight>
            </a:endParaRPr>
          </a:p>
          <a:p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Dağıtım</a:t>
            </a:r>
            <a:r>
              <a:rPr lang="en-US" sz="2000" dirty="0"/>
              <a:t> </a:t>
            </a:r>
            <a:r>
              <a:rPr lang="en-US" sz="2000" dirty="0" err="1"/>
              <a:t>modeli</a:t>
            </a:r>
            <a:r>
              <a:rPr lang="en-US" sz="2000" dirty="0"/>
              <a:t> (</a:t>
            </a:r>
            <a:r>
              <a:rPr lang="en-US" sz="2000" dirty="0" err="1"/>
              <a:t>HistGB</a:t>
            </a:r>
            <a:r>
              <a:rPr lang="en-US" sz="2000" dirty="0"/>
              <a:t> + SMOTE + </a:t>
            </a:r>
            <a:r>
              <a:rPr lang="en-US" sz="2000" dirty="0" err="1"/>
              <a:t>eşik</a:t>
            </a:r>
            <a:r>
              <a:rPr lang="en-US" sz="2000" dirty="0"/>
              <a:t>): test recall </a:t>
            </a:r>
            <a:r>
              <a:rPr lang="en-US" sz="2000" b="1" dirty="0">
                <a:highlight>
                  <a:srgbClr val="FFFF00"/>
                </a:highlight>
              </a:rPr>
              <a:t>%85.2</a:t>
            </a:r>
            <a:endParaRPr lang="tr-TR" sz="2000" b="1" dirty="0">
              <a:highlight>
                <a:srgbClr val="FFFF00"/>
              </a:highlight>
            </a:endParaRPr>
          </a:p>
          <a:p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 err="1">
                <a:highlight>
                  <a:srgbClr val="FFFF00"/>
                </a:highlight>
              </a:rPr>
              <a:t>Glikoz</a:t>
            </a:r>
            <a:r>
              <a:rPr lang="en-US" sz="2000" b="1" dirty="0">
                <a:highlight>
                  <a:srgbClr val="FFFF00"/>
                </a:highlight>
              </a:rPr>
              <a:t>, BMI </a:t>
            </a:r>
            <a:r>
              <a:rPr lang="en-US" sz="2000" b="1" dirty="0" err="1">
                <a:highlight>
                  <a:srgbClr val="FFFF00"/>
                </a:highlight>
              </a:rPr>
              <a:t>ve</a:t>
            </a:r>
            <a:r>
              <a:rPr lang="en-US" sz="2000" b="1" dirty="0">
                <a:highlight>
                  <a:srgbClr val="FFFF00"/>
                </a:highlight>
              </a:rPr>
              <a:t> Diabetes Pedigree Function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ayırt</a:t>
            </a:r>
            <a:r>
              <a:rPr lang="en-US" sz="2000" dirty="0"/>
              <a:t> </a:t>
            </a:r>
            <a:r>
              <a:rPr lang="en-US" sz="2000" dirty="0" err="1"/>
              <a:t>edici</a:t>
            </a:r>
            <a:r>
              <a:rPr lang="en-US" sz="2000" dirty="0"/>
              <a:t> </a:t>
            </a:r>
            <a:r>
              <a:rPr lang="en-US" sz="2000" dirty="0" err="1"/>
              <a:t>özelliklerdir</a:t>
            </a:r>
            <a:r>
              <a:rPr lang="en-US" sz="2000" dirty="0"/>
              <a:t>.</a:t>
            </a:r>
            <a:endParaRPr lang="tr-TR" sz="2000" dirty="0"/>
          </a:p>
          <a:p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b="1" dirty="0">
                <a:highlight>
                  <a:srgbClr val="FFFF00"/>
                </a:highlight>
              </a:rPr>
              <a:t>SMOTE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b="1" dirty="0" err="1">
                <a:highlight>
                  <a:srgbClr val="FFFF00"/>
                </a:highlight>
              </a:rPr>
              <a:t>undersampling</a:t>
            </a:r>
            <a:r>
              <a:rPr lang="en-US" sz="2000" dirty="0"/>
              <a:t> </a:t>
            </a:r>
            <a:r>
              <a:rPr lang="en-US" sz="2000" dirty="0" err="1"/>
              <a:t>yöntemleri</a:t>
            </a:r>
            <a:r>
              <a:rPr lang="en-US" sz="2000" dirty="0"/>
              <a:t>, </a:t>
            </a:r>
            <a:r>
              <a:rPr lang="en-US" sz="2000" dirty="0" err="1"/>
              <a:t>sınıf</a:t>
            </a:r>
            <a:r>
              <a:rPr lang="en-US" sz="2000" dirty="0"/>
              <a:t> </a:t>
            </a:r>
            <a:r>
              <a:rPr lang="en-US" sz="2000" dirty="0" err="1"/>
              <a:t>dengesizliği</a:t>
            </a:r>
            <a:r>
              <a:rPr lang="en-US" sz="2000" dirty="0"/>
              <a:t> </a:t>
            </a:r>
            <a:r>
              <a:rPr lang="en-US" sz="2000" dirty="0" err="1"/>
              <a:t>problemlerinde</a:t>
            </a:r>
            <a:r>
              <a:rPr lang="en-US" sz="2000" dirty="0"/>
              <a:t> </a:t>
            </a:r>
            <a:r>
              <a:rPr lang="en-US" sz="2000" dirty="0" err="1"/>
              <a:t>performansı</a:t>
            </a:r>
            <a:r>
              <a:rPr lang="en-US" sz="2000" dirty="0"/>
              <a:t> </a:t>
            </a:r>
            <a:r>
              <a:rPr lang="en-US" sz="2000" dirty="0" err="1"/>
              <a:t>anlamlı</a:t>
            </a:r>
            <a:r>
              <a:rPr lang="en-US" sz="2000" dirty="0"/>
              <a:t> </a:t>
            </a:r>
            <a:r>
              <a:rPr lang="en-US" sz="2000" dirty="0" err="1"/>
              <a:t>düzeyde</a:t>
            </a:r>
            <a:r>
              <a:rPr lang="en-US" sz="2000" dirty="0"/>
              <a:t> </a:t>
            </a:r>
            <a:r>
              <a:rPr lang="en-US" sz="2000" dirty="0" err="1"/>
              <a:t>etkilemiştir</a:t>
            </a:r>
            <a:r>
              <a:rPr lang="en-US" sz="2000" dirty="0"/>
              <a:t>.</a:t>
            </a:r>
            <a:endParaRPr lang="tr-TR" sz="2000" dirty="0"/>
          </a:p>
          <a:p>
            <a:br>
              <a:rPr lang="en-US" sz="2000" dirty="0"/>
            </a:br>
            <a:r>
              <a:rPr lang="en-US" sz="2000" dirty="0"/>
              <a:t>• Overfitting </a:t>
            </a:r>
            <a:r>
              <a:rPr lang="en-US" sz="2000" dirty="0" err="1"/>
              <a:t>kontrolü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b="1" dirty="0">
                <a:highlight>
                  <a:srgbClr val="FFFF00"/>
                </a:highlight>
              </a:rPr>
              <a:t>L2 regularization, </a:t>
            </a:r>
            <a:r>
              <a:rPr lang="en-US" sz="2000" b="1" dirty="0" err="1">
                <a:highlight>
                  <a:srgbClr val="FFFF00"/>
                </a:highlight>
              </a:rPr>
              <a:t>erken</a:t>
            </a:r>
            <a:r>
              <a:rPr lang="en-US" sz="2000" b="1" dirty="0">
                <a:highlight>
                  <a:srgbClr val="FFFF00"/>
                </a:highlight>
              </a:rPr>
              <a:t> </a:t>
            </a:r>
            <a:r>
              <a:rPr lang="en-US" sz="2000" b="1" dirty="0" err="1">
                <a:highlight>
                  <a:srgbClr val="FFFF00"/>
                </a:highlight>
              </a:rPr>
              <a:t>durdurma</a:t>
            </a:r>
            <a:r>
              <a:rPr lang="en-US" sz="2000" b="1" dirty="0">
                <a:highlight>
                  <a:srgbClr val="FFFF00"/>
                </a:highlight>
              </a:rPr>
              <a:t> (early stopping), </a:t>
            </a:r>
            <a:r>
              <a:rPr lang="en-US" sz="2000" b="1" dirty="0" err="1">
                <a:highlight>
                  <a:srgbClr val="FFFF00"/>
                </a:highlight>
              </a:rPr>
              <a:t>düşük</a:t>
            </a:r>
            <a:r>
              <a:rPr lang="en-US" sz="2000" b="1" dirty="0">
                <a:highlight>
                  <a:srgbClr val="FFFF00"/>
                </a:highlight>
              </a:rPr>
              <a:t> </a:t>
            </a:r>
            <a:r>
              <a:rPr lang="en-US" sz="2000" b="1" dirty="0" err="1">
                <a:highlight>
                  <a:srgbClr val="FFFF00"/>
                </a:highlight>
              </a:rPr>
              <a:t>max_depth</a:t>
            </a:r>
            <a:r>
              <a:rPr lang="en-US" sz="2000" b="1" dirty="0">
                <a:highlight>
                  <a:srgbClr val="FFFF00"/>
                </a:highlight>
              </a:rPr>
              <a:t> </a:t>
            </a:r>
            <a:r>
              <a:rPr lang="en-US" sz="2000" b="1" dirty="0" err="1">
                <a:highlight>
                  <a:srgbClr val="FFFF00"/>
                </a:highlight>
              </a:rPr>
              <a:t>ve</a:t>
            </a:r>
            <a:r>
              <a:rPr lang="en-US" sz="2000" b="1" dirty="0">
                <a:highlight>
                  <a:srgbClr val="FFFF00"/>
                </a:highlight>
              </a:rPr>
              <a:t> 10-fold cross-validation</a:t>
            </a:r>
            <a:r>
              <a:rPr lang="en-US" sz="2000" dirty="0"/>
              <a:t> </a:t>
            </a:r>
            <a:r>
              <a:rPr lang="en-US" sz="2000" dirty="0" err="1"/>
              <a:t>kullanılmıştır</a:t>
            </a:r>
            <a:r>
              <a:rPr lang="en-US" sz="2000" dirty="0"/>
              <a:t>.</a:t>
            </a:r>
            <a:endParaRPr lang="tr-TR" sz="2000" dirty="0"/>
          </a:p>
          <a:p>
            <a:br>
              <a:rPr lang="en-US" sz="2000" dirty="0"/>
            </a:br>
            <a:r>
              <a:rPr lang="en-US" sz="2000" dirty="0"/>
              <a:t>• </a:t>
            </a:r>
            <a:r>
              <a:rPr lang="en-US" sz="2000" dirty="0" err="1"/>
              <a:t>Gelecek</a:t>
            </a:r>
            <a:r>
              <a:rPr lang="en-US" sz="2000" dirty="0"/>
              <a:t> </a:t>
            </a:r>
            <a:r>
              <a:rPr lang="en-US" sz="2000" dirty="0" err="1"/>
              <a:t>çalışmalarda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geniş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setleri</a:t>
            </a:r>
            <a:r>
              <a:rPr lang="en-US" sz="2000" dirty="0"/>
              <a:t>, </a:t>
            </a:r>
            <a:r>
              <a:rPr lang="en-US" sz="2000" dirty="0" err="1"/>
              <a:t>derin</a:t>
            </a:r>
            <a:r>
              <a:rPr lang="en-US" sz="2000" dirty="0"/>
              <a:t> </a:t>
            </a:r>
            <a:r>
              <a:rPr lang="en-US" sz="2000" dirty="0" err="1"/>
              <a:t>öğrenme</a:t>
            </a:r>
            <a:r>
              <a:rPr lang="en-US" sz="2000" dirty="0"/>
              <a:t> </a:t>
            </a:r>
            <a:r>
              <a:rPr lang="en-US" sz="2000" dirty="0" err="1"/>
              <a:t>tabanlı</a:t>
            </a:r>
            <a:r>
              <a:rPr lang="en-US" sz="2000" dirty="0"/>
              <a:t> </a:t>
            </a:r>
            <a:r>
              <a:rPr lang="en-US" sz="2000" dirty="0" err="1"/>
              <a:t>yöntemler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klinik</a:t>
            </a:r>
            <a:r>
              <a:rPr lang="en-US" sz="2000" dirty="0"/>
              <a:t> </a:t>
            </a:r>
            <a:r>
              <a:rPr lang="en-US" sz="2000" dirty="0" err="1"/>
              <a:t>validasyon</a:t>
            </a:r>
            <a:r>
              <a:rPr lang="en-US" sz="2000" dirty="0"/>
              <a:t> </a:t>
            </a:r>
            <a:r>
              <a:rPr lang="en-US" sz="2000" dirty="0" err="1"/>
              <a:t>süreçleri</a:t>
            </a:r>
            <a:r>
              <a:rPr lang="en-US" sz="2000" dirty="0"/>
              <a:t> </a:t>
            </a:r>
            <a:r>
              <a:rPr lang="en-US" sz="2000" dirty="0" err="1"/>
              <a:t>değerlendirilebilir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156288-0134-CC6C-62A4-D0C9E69B7D8A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tr-TR" dirty="0"/>
              <a:t>  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63B6A8-6E24-CC94-BBE9-4DB21C7357C3}"/>
              </a:ext>
            </a:extLst>
          </p:cNvPr>
          <p:cNvSpPr txBox="1"/>
          <p:nvPr/>
        </p:nvSpPr>
        <p:spPr>
          <a:xfrm>
            <a:off x="2424660" y="2459504"/>
            <a:ext cx="87280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4000" b="1" dirty="0"/>
              <a:t>DİNLEDİĞİNİZ İÇİN TEŞEKKÜR EDERİZ…</a:t>
            </a:r>
          </a:p>
          <a:p>
            <a:endParaRPr lang="tr-TR" sz="3200" b="1" dirty="0"/>
          </a:p>
          <a:p>
            <a:r>
              <a:rPr lang="tr-TR" sz="2400" b="1" dirty="0"/>
              <a:t>İREM SU ERDEMİR - 1221602028</a:t>
            </a:r>
          </a:p>
          <a:p>
            <a:r>
              <a:rPr lang="tr-TR" sz="2400" b="1" dirty="0"/>
              <a:t>BEYZA YILMAZ - 1221602098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95504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</Words>
  <Application>Microsoft Office PowerPoint</Application>
  <PresentationFormat>Geniş ekran</PresentationFormat>
  <Paragraphs>157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Arial</vt:lpstr>
      <vt:lpstr>Calibri</vt:lpstr>
      <vt:lpstr>Instrument Sans Medium</vt:lpstr>
      <vt:lpstr>Instrument Sans Semi 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irem su Erdemir</dc:creator>
  <cp:keywords/>
  <dc:description>generated using python-pptx</dc:description>
  <cp:lastModifiedBy>Beyza Yılmaz</cp:lastModifiedBy>
  <cp:revision>57</cp:revision>
  <dcterms:created xsi:type="dcterms:W3CDTF">2013-01-27T09:14:16Z</dcterms:created>
  <dcterms:modified xsi:type="dcterms:W3CDTF">2026-05-17T13:22:40Z</dcterms:modified>
  <cp:category/>
</cp:coreProperties>
</file>